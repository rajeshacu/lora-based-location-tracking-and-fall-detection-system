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61C1CC9-73C9-4F5F-BF09-507E1F06B60E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391680" y="749880"/>
            <a:ext cx="85183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C4FD553-AF17-4041-90A2-F9748AB97AE4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312FCF9-C6F5-4FC6-ACE3-40AA7F8919EA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oogle Shape;9;p11" descr=""/>
          <p:cNvPicPr/>
          <p:nvPr/>
        </p:nvPicPr>
        <p:blipFill>
          <a:blip r:embed="rId3"/>
          <a:stretch/>
        </p:blipFill>
        <p:spPr>
          <a:xfrm>
            <a:off x="216000" y="216000"/>
            <a:ext cx="1505520" cy="645840"/>
          </a:xfrm>
          <a:prstGeom prst="rect">
            <a:avLst/>
          </a:prstGeom>
          <a:ln w="0">
            <a:noFill/>
          </a:ln>
        </p:spPr>
      </p:pic>
      <p:sp>
        <p:nvSpPr>
          <p:cNvPr id="1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B81D84D-26FA-442A-AFC9-58F8F5375760}" type="slidenum">
              <a:rPr b="0" lang="en-IN" sz="1000" spc="-1" strike="noStrike">
                <a:solidFill>
                  <a:schemeClr val="dk2"/>
                </a:solidFill>
                <a:latin typeface="Arial"/>
                <a:ea typeface="Arial"/>
              </a:rPr>
              <a:t>1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edit the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title text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9;p11" descr=""/>
          <p:cNvPicPr/>
          <p:nvPr/>
        </p:nvPicPr>
        <p:blipFill>
          <a:blip r:embed="rId3"/>
          <a:stretch/>
        </p:blipFill>
        <p:spPr>
          <a:xfrm>
            <a:off x="216000" y="216000"/>
            <a:ext cx="1505520" cy="64584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91680" y="749880"/>
            <a:ext cx="8518320" cy="62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7B1736A-E1C7-4C55-9F1F-3AA55AB7BA0A}" type="slidenum">
              <a:rPr b="0" lang="en-I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11" descr=""/>
          <p:cNvPicPr/>
          <p:nvPr/>
        </p:nvPicPr>
        <p:blipFill>
          <a:blip r:embed="rId3"/>
          <a:stretch/>
        </p:blipFill>
        <p:spPr>
          <a:xfrm>
            <a:off x="216000" y="216000"/>
            <a:ext cx="1505520" cy="645840"/>
          </a:xfrm>
          <a:prstGeom prst="rect">
            <a:avLst/>
          </a:prstGeom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0F9236E-70CA-4DC9-88C5-677950A01366}" type="slidenum">
              <a:rPr b="0" lang="en-I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/>
          </p:nvPr>
        </p:nvSpPr>
        <p:spPr>
          <a:xfrm>
            <a:off x="363600" y="1375200"/>
            <a:ext cx="8518320" cy="276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1RV23MC080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Rajesha C U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Under the Guidance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Of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Dr. Deepika 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Associate Professor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Department of MCA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68200" indent="0" algn="ctr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68200" indent="0" algn="ctr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Google Shape;26;p1"/>
          <p:cNvSpPr/>
          <p:nvPr/>
        </p:nvSpPr>
        <p:spPr>
          <a:xfrm>
            <a:off x="146520" y="4490280"/>
            <a:ext cx="9018000" cy="65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Date   :17/06/2025                                              Department of MCA, RVCE                                             1/12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1448280" y="914400"/>
            <a:ext cx="7433640" cy="46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2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Screenless Displays: The Future of Visual Interaction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2055600" y="72720"/>
            <a:ext cx="4649760" cy="67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Agenda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263520" y="957960"/>
            <a:ext cx="8518320" cy="32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75000"/>
          </a:bodyPr>
          <a:p>
            <a:pPr marL="216000" indent="-216000" algn="just">
              <a:lnSpc>
                <a:spcPct val="2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Arial"/>
              </a:rPr>
              <a:t>Introduction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2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Arial"/>
              </a:rPr>
              <a:t>Literature Survey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2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Arial"/>
              </a:rPr>
              <a:t>Summary of Literature Survey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2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Arial"/>
              </a:rPr>
              <a:t>Objectives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2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Arial"/>
              </a:rPr>
              <a:t>Technical Relevance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2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Arial"/>
              </a:rPr>
              <a:t>Block diagram of the Proposed work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2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solidFill>
                  <a:srgbClr val="000000"/>
                </a:solidFill>
                <a:latin typeface="Times New Roman"/>
                <a:ea typeface="Arial"/>
              </a:rPr>
              <a:t>References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 algn="ctr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8605440" y="4827240"/>
            <a:ext cx="538560" cy="316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2/12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38;p3"/>
          <p:cNvSpPr/>
          <p:nvPr/>
        </p:nvSpPr>
        <p:spPr>
          <a:xfrm>
            <a:off x="2055600" y="72720"/>
            <a:ext cx="4649760" cy="67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Introduction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" name="" descr=""/>
          <p:cNvPicPr/>
          <p:nvPr/>
        </p:nvPicPr>
        <p:blipFill>
          <a:blip r:embed="rId1"/>
          <a:stretch/>
        </p:blipFill>
        <p:spPr>
          <a:xfrm>
            <a:off x="5715000" y="1143000"/>
            <a:ext cx="3198600" cy="3336120"/>
          </a:xfrm>
          <a:prstGeom prst="rect">
            <a:avLst/>
          </a:prstGeom>
          <a:ln w="0">
            <a:noFill/>
          </a:ln>
        </p:spPr>
      </p:pic>
      <p:sp>
        <p:nvSpPr>
          <p:cNvPr id="19" name=""/>
          <p:cNvSpPr/>
          <p:nvPr/>
        </p:nvSpPr>
        <p:spPr>
          <a:xfrm>
            <a:off x="457200" y="914400"/>
            <a:ext cx="5256000" cy="39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 "/>
              </a:rPr>
              <a:t>Screenless display technology delivers digital visuals without physical screens using AR, holography, and retinal projection.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 "/>
              </a:rPr>
              <a:t>It enables immersive, hands-free interaction, blending digital content with the physical world.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 "/>
              </a:rPr>
              <a:t>Key applications: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 "/>
              </a:rPr>
              <a:t>Healthcare – real-time data during surgery.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 "/>
              </a:rPr>
              <a:t>Education – 3D interactive learning.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 "/>
              </a:rPr>
              <a:t>Defense – AR-assisted mission data.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 "/>
              </a:rPr>
              <a:t>Entertainment &amp; Wearables – smart lenses, gaming.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 "/>
              </a:rPr>
              <a:t>It represents the future of digital interfaces, making it a highly relevant and transformative topic.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8605440" y="4800600"/>
            <a:ext cx="538560" cy="316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3/12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44;p4"/>
          <p:cNvSpPr/>
          <p:nvPr/>
        </p:nvSpPr>
        <p:spPr>
          <a:xfrm>
            <a:off x="2055600" y="72720"/>
            <a:ext cx="4649760" cy="67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75000"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Literature Survey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2" name="Google Shape;45;p4"/>
          <p:cNvGraphicFramePr/>
          <p:nvPr/>
        </p:nvGraphicFramePr>
        <p:xfrm>
          <a:off x="356760" y="940680"/>
          <a:ext cx="8451720" cy="3783240"/>
        </p:xfrm>
        <a:graphic>
          <a:graphicData uri="http://schemas.openxmlformats.org/drawingml/2006/table">
            <a:tbl>
              <a:tblPr/>
              <a:tblGrid>
                <a:gridCol w="666000"/>
                <a:gridCol w="2038320"/>
                <a:gridCol w="2622240"/>
                <a:gridCol w="3125520"/>
              </a:tblGrid>
              <a:tr h="3488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Sl No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Author (s) &amp; Paper title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Details of Publication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Summary of the Paper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</a:tr>
              <a:tr h="6933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1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Holographic Video Communications – SI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IEEE Wireless Communications, Vol. 32, No. 2, 2025 (In press)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Explores technical advancements and system requirements for wireless holographic video systems.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735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2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Tong Wang et al. – Naked-eye light field display using micro-LED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Scientific Reports, Vol. 14, Article No. 24381, 2024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Analyzes performance of light field displays using advanced micro-LED tech for immersive applications.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96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3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Chun Chen et al. – Ultrahigh-fidelity full-color holography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PhotoniX, Vol. 5, Article 20, 2024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Demonstrates camera-in-loop holographic rendering system with vivid color fidelity.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512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4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Maximilian Rutz et al. – Perceptual brightness in retinal glasses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arXiv preprint arXiv:2403. 2024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Studies visual perception effects in high-brightness retinal projection smart glasses.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542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5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Yili Jin et al. – Volumetric Video Survey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arXiv:2404.Vol.11, 2024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Surveys the pipeline from capture to rendering for volumetric 3D video in real time.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3" name=""/>
          <p:cNvSpPr txBox="1"/>
          <p:nvPr/>
        </p:nvSpPr>
        <p:spPr>
          <a:xfrm>
            <a:off x="8605440" y="4827240"/>
            <a:ext cx="538560" cy="316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4/12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oogle Shape;45;p 1"/>
          <p:cNvGraphicFramePr/>
          <p:nvPr/>
        </p:nvGraphicFramePr>
        <p:xfrm>
          <a:off x="357120" y="941040"/>
          <a:ext cx="8329320" cy="3859560"/>
        </p:xfrm>
        <a:graphic>
          <a:graphicData uri="http://schemas.openxmlformats.org/drawingml/2006/table">
            <a:tbl>
              <a:tblPr/>
              <a:tblGrid>
                <a:gridCol w="656640"/>
                <a:gridCol w="2009160"/>
                <a:gridCol w="2584440"/>
                <a:gridCol w="3079440"/>
              </a:tblGrid>
              <a:tr h="3564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Sl No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Author (s) &amp; Paper title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Details of Publication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Summary of the Paper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</a:tr>
              <a:tr h="708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6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PointerVol Team – Volumetric Interaction with Laser Pointers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ACM SIGGRAPH, 2024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Introduces spatial interaction model using laser beams in volumetric displays.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88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7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Kaan Akşit &amp; Yuta Itoh – HoloBeam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arXiv:2212.Vol.5, 2022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Projects beams directly to retina using thin lenses, maximizing field of view.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7124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8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Parimal Chakravarthula et al. – Gaze-contingent speckle suppression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arXiv:2111.Vol.8, 2021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Enhances foveated holographic displays by minimizing speckle artifacts through eye tracking.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96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9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M. J. Jeong et al. – Screenless Display for Interactive Applications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Applied Sciences, Vol. 11(1), p.117, 2021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Covers use cases of screenless displays in smart homes and gaming setups.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97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10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Parimal Bhosale et al. – Screenless Display: A Review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IJSRCSEIT, Vol. 8, Issue 1, 2022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Surveys visual-image, retinal-projection, and synaptic-based screenless systems.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5" name=""/>
          <p:cNvSpPr txBox="1"/>
          <p:nvPr/>
        </p:nvSpPr>
        <p:spPr>
          <a:xfrm>
            <a:off x="8605440" y="4800240"/>
            <a:ext cx="538560" cy="316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5/12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917000" y="176760"/>
            <a:ext cx="6920280" cy="61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Summary of 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the literature </a:t>
            </a: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survey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Google Shape;53;p5"/>
          <p:cNvSpPr/>
          <p:nvPr/>
        </p:nvSpPr>
        <p:spPr>
          <a:xfrm>
            <a:off x="311760" y="1340640"/>
            <a:ext cx="8518320" cy="31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rmAutofit/>
          </a:bodyPr>
          <a:p>
            <a:pPr marL="114480" algn="ctr">
              <a:lnSpc>
                <a:spcPct val="115000"/>
              </a:lnSpc>
              <a:tabLst>
                <a:tab algn="l" pos="0"/>
              </a:tabLst>
            </a:pPr>
            <a:r>
              <a:rPr b="0" lang="en-IN" sz="1800" spc="-1" strike="noStrike">
                <a:solidFill>
                  <a:schemeClr val="dk2"/>
                </a:solidFill>
                <a:latin typeface="Arial"/>
                <a:ea typeface="Arial"/>
              </a:rPr>
              <a:t>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8" name="Google Shape;45;p 2"/>
          <p:cNvGraphicFramePr/>
          <p:nvPr/>
        </p:nvGraphicFramePr>
        <p:xfrm>
          <a:off x="357120" y="941040"/>
          <a:ext cx="8557920" cy="3892320"/>
        </p:xfrm>
        <a:graphic>
          <a:graphicData uri="http://schemas.openxmlformats.org/drawingml/2006/table">
            <a:tbl>
              <a:tblPr/>
              <a:tblGrid>
                <a:gridCol w="674280"/>
                <a:gridCol w="2063880"/>
                <a:gridCol w="2655000"/>
                <a:gridCol w="3165120"/>
              </a:tblGrid>
              <a:tr h="2883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Sl No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Author (s) &amp; Paper title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Pros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Cons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</a:tr>
              <a:tr h="681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1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Holographic Video Communications – SI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Covers state-of-the-art wireless holographic systems; focuses on end-to-end system design.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As it's a special issue, it may be more editorial/overview-based than experimental.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81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2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Tong Wang et al. – Naked-eye light field display using micro-LED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Demonstrates cutting-edge micro-LED tech; supports high-resolution, glasses-free displays.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Technology is still emerging; cost and mass production scalability are not addressed.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8780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3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Chun Chen et al. – Ultrahigh-fidelity full-color holography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High-quality visuals with full color and camera-in-loop feedback; improves user immersion.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May require high computational resources; hardware complexity can be a barrier.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81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4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Maximilian Rutz et al. – Perceptual brightness in retinal glasses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Addresses human perception, enhancing clarity and brightness in retinal projection.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Focuses mainly on perception studies; lacks detailed technical hardware analysis.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81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5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Yili Jin et al. – Volumetric Video Survey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Offers comprehensive overview of real-time volumetric video tech; covers full pipeline.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Being a survey, it doesn’t provide new experimental results or system implementations.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9" name=""/>
          <p:cNvSpPr txBox="1"/>
          <p:nvPr/>
        </p:nvSpPr>
        <p:spPr>
          <a:xfrm>
            <a:off x="8605440" y="4833000"/>
            <a:ext cx="538560" cy="316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6/12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Google Shape;45;p 3"/>
          <p:cNvGraphicFramePr/>
          <p:nvPr/>
        </p:nvGraphicFramePr>
        <p:xfrm>
          <a:off x="357480" y="941400"/>
          <a:ext cx="8329320" cy="4034520"/>
        </p:xfrm>
        <a:graphic>
          <a:graphicData uri="http://schemas.openxmlformats.org/drawingml/2006/table">
            <a:tbl>
              <a:tblPr/>
              <a:tblGrid>
                <a:gridCol w="656640"/>
                <a:gridCol w="2009160"/>
                <a:gridCol w="2584440"/>
                <a:gridCol w="3079440"/>
              </a:tblGrid>
              <a:tr h="365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Sl No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Author (s) &amp; Paper title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Pros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Cons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6d6d6"/>
                    </a:solidFill>
                  </a:tcPr>
                </a:tc>
              </a:tr>
              <a:tr h="708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6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PointerVol Team – Volumetric Interaction with Laser Pointers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Innovative interaction method using laser beams; enables precise spatial input.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System may lack robustness under different lighting or environmental conditions.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88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7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Kaan Akşit &amp; Yuta Itoh – HoloBeam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Projects directly onto retina for immersive field of view; eliminates traditional optics.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Still experimental; safety and eye comfort in long-term use need more validation.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7124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8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Parimal Chakravarthula et al. – Gaze-contingent speckle suppression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Reduces visual noise in holographic displays; uses gaze tracking for targeted enhancement.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Complexity increases due to need for accurate eye tracking; system latency can be a concern.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96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9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M. J. Jeong et al. – Screenless Display for Interactive Applications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Applies screenless displays to practical domains like smart homes and gaming.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Focus is more on applications; lacks detailed hardware or technical innovations.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97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</a:rPr>
                        <a:t>10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Parimal Bhosale et al. – Screenless Display: A Review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Comprehensive survey of screenless display types and technologies.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Review paper—does not propose or test a new system; mostly secondary research.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1" name=""/>
          <p:cNvSpPr txBox="1"/>
          <p:nvPr/>
        </p:nvSpPr>
        <p:spPr>
          <a:xfrm>
            <a:off x="8605440" y="4827240"/>
            <a:ext cx="538560" cy="316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7/12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59;p6"/>
          <p:cNvSpPr/>
          <p:nvPr/>
        </p:nvSpPr>
        <p:spPr>
          <a:xfrm>
            <a:off x="279000" y="2457360"/>
            <a:ext cx="360" cy="440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66600" bIns="666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33" name="Google Shape;60;p6"/>
          <p:cNvSpPr/>
          <p:nvPr/>
        </p:nvSpPr>
        <p:spPr>
          <a:xfrm>
            <a:off x="1911240" y="136800"/>
            <a:ext cx="610380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Objectives</a:t>
            </a:r>
            <a:r>
              <a:rPr b="0" lang="en-IN" sz="40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 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45000" y="1089000"/>
            <a:ext cx="8868600" cy="393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500" spc="-1" strike="noStrike">
                <a:solidFill>
                  <a:srgbClr val="000000"/>
                </a:solidFill>
                <a:latin typeface="times new roman"/>
                <a:ea typeface="Arial"/>
              </a:rPr>
              <a:t>To understand the core concept and working of screenless display technology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500" spc="-1" strike="noStrike">
                <a:solidFill>
                  <a:srgbClr val="000000"/>
                </a:solidFill>
                <a:latin typeface="times new roman"/>
                <a:ea typeface="Arial"/>
              </a:rPr>
              <a:t>To explore its key enabling technologies like AR, holography, and retinal projection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500" spc="-1" strike="noStrike">
                <a:solidFill>
                  <a:srgbClr val="000000"/>
                </a:solidFill>
                <a:latin typeface="times new roman"/>
                <a:ea typeface="Arial"/>
              </a:rPr>
              <a:t>To identify real-world applications across healthcare, education, defense, and entertainment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500" spc="-1" strike="noStrike">
                <a:solidFill>
                  <a:srgbClr val="000000"/>
                </a:solidFill>
                <a:latin typeface="times new roman"/>
                <a:ea typeface="Arial"/>
              </a:rPr>
              <a:t>To examine recent innovations such as Mojo Lens and Microsoft HoloLens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500" spc="-1" strike="noStrike">
                <a:solidFill>
                  <a:srgbClr val="000000"/>
                </a:solidFill>
                <a:latin typeface="times new roman"/>
                <a:ea typeface="Arial"/>
              </a:rPr>
              <a:t>To assess the future potential and impact of screenless displays on digital interaction</a:t>
            </a:r>
            <a:br>
              <a:rPr sz="1500"/>
            </a:br>
            <a:br>
              <a:rPr sz="1500"/>
            </a:br>
            <a:r>
              <a:rPr b="0" lang="en-IN" sz="1500" spc="-1" strike="noStrike">
                <a:solidFill>
                  <a:srgbClr val="000000"/>
                </a:solidFill>
                <a:latin typeface="times new roman"/>
                <a:ea typeface="Arial"/>
              </a:rPr>
              <a:t> 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8553240" y="4827240"/>
            <a:ext cx="590760" cy="316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8/12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60;p6"/>
          <p:cNvSpPr/>
          <p:nvPr/>
        </p:nvSpPr>
        <p:spPr>
          <a:xfrm>
            <a:off x="1911240" y="136800"/>
            <a:ext cx="610380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Technical Relevance</a:t>
            </a:r>
            <a:r>
              <a:rPr b="0" lang="en-IN" sz="40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 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230040" y="914400"/>
            <a:ext cx="8685360" cy="37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n-US" sz="1500" spc="-1" strike="noStrike">
                <a:solidFill>
                  <a:srgbClr val="000000"/>
                </a:solidFill>
                <a:latin typeface="times new roman"/>
              </a:rPr>
              <a:t>Technical Relevance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</a:rPr>
              <a:t>Eliminates the need for physical screens in VR/AR headsets, holograms, retinal projection, smart glasses, voice interfaces.</a:t>
            </a:r>
            <a:endParaRPr b="0" lang="en-US" sz="15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</a:rPr>
              <a:t>Supports immersive technologies like AR/VR</a:t>
            </a:r>
            <a:endParaRPr b="0" lang="en-US" sz="15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</a:rPr>
              <a:t>Enables hands-free and portable visual interfaces.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</a:rPr>
              <a:t>Useful in smart glasses, medical imaging, military and automotive displays.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n-US" sz="15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Key Technical Features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Retinal projection: Displays visuals directly to the eye.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Holographic rendering: Creates 3D images with depth perception.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Volumetric display: Projects visuals into free space.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Eye tracking: Enhances interaction and display accuracy.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Micro-LED &amp; laser tech: Used for high brightness and compact design.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8458200" y="4800600"/>
            <a:ext cx="604800" cy="316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9/12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"/>
          <p:cNvSpPr/>
          <p:nvPr/>
        </p:nvSpPr>
        <p:spPr>
          <a:xfrm>
            <a:off x="2743200" y="457200"/>
            <a:ext cx="2284920" cy="82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2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Block Diagram</a:t>
            </a:r>
            <a:br>
              <a:rPr sz="2600"/>
            </a:b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8458200" y="4572000"/>
            <a:ext cx="685800" cy="770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 </a:t>
            </a: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10/12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" name="" descr=""/>
          <p:cNvPicPr/>
          <p:nvPr/>
        </p:nvPicPr>
        <p:blipFill>
          <a:blip r:embed="rId1"/>
          <a:stretch/>
        </p:blipFill>
        <p:spPr>
          <a:xfrm>
            <a:off x="914400" y="1371600"/>
            <a:ext cx="6865200" cy="2903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504720" y="814680"/>
            <a:ext cx="8500680" cy="38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br>
              <a:rPr sz="1800"/>
            </a:br>
            <a:br>
              <a:rPr sz="1800"/>
            </a:b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Google Shape;83;p10"/>
          <p:cNvSpPr/>
          <p:nvPr/>
        </p:nvSpPr>
        <p:spPr>
          <a:xfrm>
            <a:off x="1835640" y="185760"/>
            <a:ext cx="533988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 algn="ctr">
              <a:lnSpc>
                <a:spcPct val="100000"/>
              </a:lnSpc>
            </a:pPr>
            <a:r>
              <a:rPr b="0" lang="en-IN" sz="36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References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16200" y="914400"/>
            <a:ext cx="8989200" cy="41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[1] Z. Liu et al., "Holographic Video Communications," IEEE Wireless Communications, vol. 32, no. 2, Feb. 2025.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[2] T. Wang, C. Yang, J. Chen, Y. Zhao, J. Zong, et al., "Naked-eye light field display technology based on mini/micro LED panels: a systematic review and meta-analysis," Scientific Reports, vol. 14, Art. 24381, Oct. 2024.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[3] M. Rutz et al., "Perceived brightness and resolution in retinal scan glasses," arXiv:2403.xxxxx, Jul. 2024.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[4] Y. Jin et al., "Volumetric 3D video: capture, compression, display," arXiv:2404.xxxxx, Apr. 2024.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[5] PointerVol Team, "PointerVol: laser-pointer interaction in volumetric displays," ACM SIGGRAPH, 2024.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[6] K. Akşit and Y. Itoh, "HoloBeam: paper-thin near-eye displays," arXiv:2212.xxxxx, Dec. 2022.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[7] P. Chakravarthula et al., "Gaze-contingent retinal speckle suppression for foveated holographic displays," arXiv:2111.xxxxx, Nov. 2021.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[8] M. J. Jeong et al., "Screenless Display for Interactive Applications," Applied Sciences, vol. 11, no. 1, p. 117, Jan. 2021.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[9] W. Song et al., "Large-scale Huygens metasurfaces for holographic near-eye displays," arXiv:2010.xxxxx, Oct. 2020.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[10] P. S. Bhosale, R. Kale, and P. P. Salve, "Screenless Display: A Review," IJSRCSEIT, vol. 8, no. 1, pp. 337-343, 2022.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[11] V. Kumar, "Screenless Display Technology," SlideShare, 2024.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[12] M. Mierse, “Build a Sci-Fi aerial display,” IEEE Spectrum, Oct. 20, 2024. [Online]. Available: https://spectrum.ieee.org/diy-scifi-aerial-display.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8503200" y="4645440"/>
            <a:ext cx="640800" cy="54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 </a:t>
            </a: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11/12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"/>
          <p:cNvSpPr/>
          <p:nvPr/>
        </p:nvSpPr>
        <p:spPr>
          <a:xfrm>
            <a:off x="1080" y="685800"/>
            <a:ext cx="9142560" cy="42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[13] Virtual retinal display, Wikipedia, The Free Encyclopedia, 2025. [Online].  (Accessed: Jun. 12, 2025).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[14] M. J. Jeong et al., “Screenless display for interactive applications,” Appl. Sci., vol. 11, no. 1, p. 117, 2021.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[15] H. Fuchs et al., “A survey of techniques for 3D display,” Comput. Graph. Forum, vol. 25, no. 4, pp. 1105–1126, 2006.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[16] X. Yang et al., “Progress in volumetric 3D display technologies,” IEEE Access, vol. 8, pp. 98661–98673, 2020.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[17] J. S. Kim et al., “Review of holographic 3D display technologies,” J. Korean Phys. Soc., vol. 63, no. 1, pp. 11–20, 2013.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[18] M. Lucente et al., “A survey of light-field displays,” Proc. IEEE, vol. 101, no. 7, pp. 1469–1487, 2013.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[19] H. Kuwahara et al., “Three-dimensional displays: Technologies and applications,” Proc. IEEE, vol. 101, no. 7, pp. 1508–1523, 2013.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[20] H. Saito et al., “Laser-plasma scanning 3D display for putting digital contents in free space,” Proc. SPIE, vol. 6803, Feb. 2008, doi:10.1117/12.768068.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[21] K. Unagar, “Screenless display (1),” SlideShare, 2024. [Online]. Available: https://www.slideshare.net/slideshow/screenless-display-204907143/204907143.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[22] K. Kumagai and Y. Hayasaki, “Colored voxels of laser-excited aerial volumetric display,” in Digital Holography and 3-D Imaging 2022, D. Chu et al., Eds., OSA Technical Digest (online), paper W3A.1, 2022, doi:10.1364/DH.2022.W3A.1.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[23] K. Kumagai, S. Miura, and Y. Hayasaki, “Aerial re-imaging of femtosecond-laser-excited graphics for volumetric display,” in OSA Imaging and Applied Optics Congress (Imaging, 3D, DH, ISA, COSI), OSA Technical Digest, paper 3Th7E.1, 2021.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[24] W. D. Jones, “Wireless display on a contact lens,” IEEE Spectrum, Nov. 2011.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r>
              <a:rPr b="0" lang="en-US" sz="11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[25] E. N. Sardinha, M. Munera, N. Zook, D. Western, and V. Ruiz Garate, “Diegetic graphical user interfaces and intuitive control of assistive robots via eye-gaze,” arXiv:2401.03944 [cs.RO], 2024.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8478000" y="4695840"/>
            <a:ext cx="640800" cy="54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 </a:t>
            </a:r>
            <a:r>
              <a:rPr b="0" lang="en-IN" sz="1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12/12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454</TotalTime>
  <Application>LibreOffice/24.2.7.2$Linux_X86_64 LibreOffice_project/420$Build-2</Application>
  <AppVersion>15.0000</AppVersion>
  <Words>197</Words>
  <Paragraphs>52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ksj</dc:creator>
  <dc:description/>
  <dc:language>en-US</dc:language>
  <cp:lastModifiedBy/>
  <dcterms:modified xsi:type="dcterms:W3CDTF">2025-06-16T23:20:19Z</dcterms:modified>
  <cp:revision>84</cp:revision>
  <dc:subject/>
  <dc:title>Title of the Technical Seminar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