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_rels/notesSlide1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7.xml.rels" ContentType="application/vnd.openxmlformats-package.relationships+xml"/>
  <Override PartName="/ppt/notesSlides/_rels/notesSlide2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</p:sldIdLst>
  <p:sldSz cx="20104100" cy="11309350"/>
  <p:notesSz cx="20104100" cy="1130935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D777BF7-3783-4F54-A3B4-A3D6D5FC4369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sldNum" idx="24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9FAF096-5417-45C7-87B0-BF606C38F0D6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16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sldNum" idx="25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4782664-25ED-4922-BF9F-E4D63252DC7E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16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16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 type="sldNum" idx="26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1B6BE06-27CD-4E82-8052-2309237C1A5D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16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sldNum" idx="27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B0ED760-A3E6-4F52-A45E-1A8C0A853AA5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16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 type="sldNum" idx="28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A3473BD-C3FB-4B13-8CE2-CC9B20E66B0F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16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sldNum" idx="29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626A81-CC1E-4916-A536-FBE1ECF135F3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16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sldNum" idx="30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AFD1CB9-6783-4087-BBEA-DF7D8180BA06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16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sldNum" idx="31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335C69-302C-4B30-B7B5-42966BB0BE18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16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sldNum" idx="32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4A90B42-6C46-4961-AC36-74C8FE9B7606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16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sldNum" idx="33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87AAF89-22A4-47A0-B6B6-81187DC145EF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16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40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 type="sldNum" idx="34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0D86701-62CE-45A2-BDD3-A44B6941301A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16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sldNum" idx="35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AFA3A68-D45E-4289-89BC-C3CDAB3C8D3D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6281640" y="847800"/>
            <a:ext cx="7538760" cy="4240080"/>
          </a:xfrm>
          <a:prstGeom prst="rect">
            <a:avLst/>
          </a:prstGeom>
          <a:ln w="0">
            <a:noFill/>
          </a:ln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2009880" y="5372280"/>
            <a:ext cx="16082640" cy="508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36"/>
          </p:nvPr>
        </p:nvSpPr>
        <p:spPr>
          <a:xfrm>
            <a:off x="11387160" y="10742760"/>
            <a:ext cx="8710560" cy="5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1200" spc="-1" strike="noStrike">
                <a:solidFill>
                  <a:schemeClr val="dk1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27F4391-13F3-4CF6-BD13-9D9236B690DF}" type="slidenum">
              <a:rPr b="0" lang="en-IN" sz="1200" spc="-1" strike="noStrike">
                <a:solidFill>
                  <a:schemeClr val="dk1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C81E020-81D9-4B00-B018-3A9FDCB64EFA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C7E0DAD-7B48-4D3E-A1F6-DCD6212DFF55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19D0530-5380-4BA3-8095-2BF2642B55F5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FFA37664-17DD-4853-B64B-A2663B9CB5B7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9222588-7862-431E-BB45-1179D94A2E75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30800" cy="125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556560" y="4084560"/>
            <a:ext cx="18730800" cy="75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59E00233-B5C6-4A5E-AE2E-F6559CA03E6F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oogle Shape;10;p16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12360" cy="1422360"/>
          </a:xfrm>
          <a:prstGeom prst="rect">
            <a:avLst/>
          </a:prstGeom>
          <a:ln w="0">
            <a:noFill/>
          </a:ln>
        </p:spPr>
      </p:pic>
      <p:pic>
        <p:nvPicPr>
          <p:cNvPr id="1" name="Google Shape;13;p16" descr=""/>
          <p:cNvPicPr/>
          <p:nvPr/>
        </p:nvPicPr>
        <p:blipFill>
          <a:blip r:embed="rId4"/>
          <a:stretch/>
        </p:blipFill>
        <p:spPr>
          <a:xfrm>
            <a:off x="7614360" y="10400400"/>
            <a:ext cx="4872960" cy="739080"/>
          </a:xfrm>
          <a:prstGeom prst="rect">
            <a:avLst/>
          </a:prstGeom>
          <a:ln w="0">
            <a:noFill/>
          </a:ln>
        </p:spPr>
      </p:pic>
      <p:sp>
        <p:nvSpPr>
          <p:cNvPr id="2" name="Google Shape;16;p17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3" name="Google Shape;17;p17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sldNum" idx="1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98D9C2B-8AA4-4C13-B0BC-BF597E9EB94E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title"/>
          </p:nvPr>
        </p:nvSpPr>
        <p:spPr>
          <a:xfrm>
            <a:off x="1005120" y="451080"/>
            <a:ext cx="18093240" cy="188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k to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edit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the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title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text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for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1005120" y="2646360"/>
            <a:ext cx="18093240" cy="6558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21;p18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12360" cy="1422360"/>
          </a:xfrm>
          <a:prstGeom prst="rect">
            <a:avLst/>
          </a:prstGeom>
          <a:ln w="0">
            <a:noFill/>
          </a:ln>
        </p:spPr>
      </p:pic>
      <p:pic>
        <p:nvPicPr>
          <p:cNvPr id="8" name="Google Shape;25;p18" descr=""/>
          <p:cNvPicPr/>
          <p:nvPr/>
        </p:nvPicPr>
        <p:blipFill>
          <a:blip r:embed="rId4"/>
          <a:stretch/>
        </p:blipFill>
        <p:spPr>
          <a:xfrm>
            <a:off x="15354360" y="912600"/>
            <a:ext cx="4337280" cy="657720"/>
          </a:xfrm>
          <a:prstGeom prst="rect">
            <a:avLst/>
          </a:prstGeom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sldNum" idx="2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21F9C5-EF1C-4A65-915D-8421512D4BBF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21;p18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12360" cy="1422360"/>
          </a:xfrm>
          <a:prstGeom prst="rect">
            <a:avLst/>
          </a:prstGeom>
          <a:ln w="0">
            <a:noFill/>
          </a:ln>
        </p:spPr>
      </p:pic>
      <p:pic>
        <p:nvPicPr>
          <p:cNvPr id="11" name="Google Shape;25;p18" descr=""/>
          <p:cNvPicPr/>
          <p:nvPr/>
        </p:nvPicPr>
        <p:blipFill>
          <a:blip r:embed="rId4"/>
          <a:stretch/>
        </p:blipFill>
        <p:spPr>
          <a:xfrm>
            <a:off x="15354360" y="912600"/>
            <a:ext cx="4337280" cy="657720"/>
          </a:xfrm>
          <a:prstGeom prst="rect">
            <a:avLst/>
          </a:prstGeom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sldNum" idx="3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EF799C1-9C2A-44A5-B585-18068E698C08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21;p18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12360" cy="1422360"/>
          </a:xfrm>
          <a:prstGeom prst="rect">
            <a:avLst/>
          </a:prstGeom>
          <a:ln w="0">
            <a:noFill/>
          </a:ln>
        </p:spPr>
      </p:pic>
      <p:pic>
        <p:nvPicPr>
          <p:cNvPr id="14" name="Google Shape;25;p18" descr=""/>
          <p:cNvPicPr/>
          <p:nvPr/>
        </p:nvPicPr>
        <p:blipFill>
          <a:blip r:embed="rId4"/>
          <a:stretch/>
        </p:blipFill>
        <p:spPr>
          <a:xfrm>
            <a:off x="15354360" y="912600"/>
            <a:ext cx="4337280" cy="657720"/>
          </a:xfrm>
          <a:prstGeom prst="rect">
            <a:avLst/>
          </a:prstGeom>
          <a:ln w="0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sldNum" idx="4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F632869-88ED-4621-BF11-29C45D7BA7D7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5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21;p18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12360" cy="1422360"/>
          </a:xfrm>
          <a:prstGeom prst="rect">
            <a:avLst/>
          </a:prstGeom>
          <a:ln w="0">
            <a:noFill/>
          </a:ln>
        </p:spPr>
      </p:pic>
      <p:pic>
        <p:nvPicPr>
          <p:cNvPr id="17" name="Google Shape;25;p18" descr=""/>
          <p:cNvPicPr/>
          <p:nvPr/>
        </p:nvPicPr>
        <p:blipFill>
          <a:blip r:embed="rId4"/>
          <a:stretch/>
        </p:blipFill>
        <p:spPr>
          <a:xfrm>
            <a:off x="15354360" y="912600"/>
            <a:ext cx="4337280" cy="657720"/>
          </a:xfrm>
          <a:prstGeom prst="rect">
            <a:avLst/>
          </a:prstGeom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sldNum" idx="5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C5DF5CA-E1D5-4D90-86D2-B3421018F798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5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21;p18" descr=""/>
          <p:cNvPicPr/>
          <p:nvPr/>
        </p:nvPicPr>
        <p:blipFill>
          <a:blip r:embed="rId3"/>
          <a:stretch/>
        </p:blipFill>
        <p:spPr>
          <a:xfrm>
            <a:off x="474840" y="474840"/>
            <a:ext cx="3312360" cy="1422360"/>
          </a:xfrm>
          <a:prstGeom prst="rect">
            <a:avLst/>
          </a:prstGeom>
          <a:ln w="0">
            <a:noFill/>
          </a:ln>
        </p:spPr>
      </p:pic>
      <p:pic>
        <p:nvPicPr>
          <p:cNvPr id="20" name="Google Shape;25;p18" descr=""/>
          <p:cNvPicPr/>
          <p:nvPr/>
        </p:nvPicPr>
        <p:blipFill>
          <a:blip r:embed="rId4"/>
          <a:stretch/>
        </p:blipFill>
        <p:spPr>
          <a:xfrm>
            <a:off x="15354360" y="912600"/>
            <a:ext cx="4337280" cy="657720"/>
          </a:xfrm>
          <a:prstGeom prst="rect">
            <a:avLst/>
          </a:prstGeom>
          <a:ln w="0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61120" y="2054160"/>
            <a:ext cx="18730800" cy="125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556560" y="4084560"/>
            <a:ext cx="18730800" cy="75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sldNum" idx="6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473B71-CE2F-4529-94B2-5F24FA1A8305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6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5;p1"/>
          <p:cNvSpPr/>
          <p:nvPr/>
        </p:nvSpPr>
        <p:spPr>
          <a:xfrm>
            <a:off x="4443840" y="2008080"/>
            <a:ext cx="11215080" cy="13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6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Enhanced LongRange Location Tracking and Fall Detection System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Google Shape;36;p1"/>
          <p:cNvSpPr/>
          <p:nvPr/>
        </p:nvSpPr>
        <p:spPr>
          <a:xfrm>
            <a:off x="1575360" y="3254400"/>
            <a:ext cx="17015400" cy="69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1RV23MC039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RAJESHA C U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Under the Guidance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Of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DR. Deepika K              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    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  External Guide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Associate Professor                                     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    Designation 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Department of MCA                                 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	</a:t>
            </a: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    Affiliation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sldNum" idx="10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9806F76-F5B4-461F-94DD-D7B344B9AE31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Google Shape;38;p1"/>
          <p:cNvSpPr/>
          <p:nvPr/>
        </p:nvSpPr>
        <p:spPr>
          <a:xfrm>
            <a:off x="4599360" y="351000"/>
            <a:ext cx="10903680" cy="13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6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Major Project – MCA491P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44;p2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37" name="Google Shape;45;p2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sldNum" idx="11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277AB44-203E-46BA-AB9D-503C16A6B319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2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Google Shape;47;p2"/>
          <p:cNvSpPr/>
          <p:nvPr/>
        </p:nvSpPr>
        <p:spPr>
          <a:xfrm>
            <a:off x="1008000" y="2411280"/>
            <a:ext cx="18525960" cy="779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Changes suggested in Phase I and Incorporation  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Tools and Technologies Used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Hardware and Software Requirements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Functional Requirements- Module specification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Non-functional Requirements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Design Constraints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System design- Architecture design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Detailed Design- Class Diagram, Use Case diagram, sequence diagram, activity diagram and DFD (level-0 to level-2) 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Work progress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Noto Sans Symbols"/>
              <a:buChar char="●"/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References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Google Shape;48;p2"/>
          <p:cNvSpPr/>
          <p:nvPr/>
        </p:nvSpPr>
        <p:spPr>
          <a:xfrm>
            <a:off x="5040000" y="971640"/>
            <a:ext cx="9069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Agenda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54;p4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42" name="Google Shape;55;p4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43" name="PlaceHolder 1"/>
          <p:cNvSpPr>
            <a:spLocks noGrp="1"/>
          </p:cNvSpPr>
          <p:nvPr>
            <p:ph type="sldNum" idx="12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ADA46FD-5D47-410D-A33F-B834D5B52679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3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Google Shape;57;p4"/>
          <p:cNvSpPr/>
          <p:nvPr/>
        </p:nvSpPr>
        <p:spPr>
          <a:xfrm>
            <a:off x="995400" y="2149560"/>
            <a:ext cx="18525960" cy="612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Redifined the Objectives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Google Shape;58;p4"/>
          <p:cNvSpPr/>
          <p:nvPr/>
        </p:nvSpPr>
        <p:spPr>
          <a:xfrm>
            <a:off x="5057640" y="290520"/>
            <a:ext cx="90691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Incorporation of Changes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64;p5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47" name="Google Shape;65;p5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sldNum" idx="13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18A3EDE-5371-4C1F-A299-F916942699BE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4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Google Shape;68;p5"/>
          <p:cNvSpPr/>
          <p:nvPr/>
        </p:nvSpPr>
        <p:spPr>
          <a:xfrm>
            <a:off x="5057640" y="290520"/>
            <a:ext cx="90691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Project based Learning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0" name="Google Shape;69;p5"/>
          <p:cNvGraphicFramePr/>
          <p:nvPr/>
        </p:nvGraphicFramePr>
        <p:xfrm>
          <a:off x="1822320" y="3885840"/>
          <a:ext cx="16458480" cy="2219040"/>
        </p:xfrm>
        <a:graphic>
          <a:graphicData uri="http://schemas.openxmlformats.org/drawingml/2006/table">
            <a:tbl>
              <a:tblPr/>
              <a:tblGrid>
                <a:gridCol w="1371600"/>
                <a:gridCol w="7619760"/>
                <a:gridCol w="7467480"/>
              </a:tblGrid>
              <a:tr h="81720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Sl No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  </a:t>
                      </a: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Particulars  / Details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 </a:t>
                      </a: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Details of Implementation 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700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 </a:t>
                      </a: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Course on “ReactJS” 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It helps us to design the frontend of the web interface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700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Course on “NodeJS”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It helps to build the backend of the web application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85;p7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52" name="Google Shape;86;p7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53" name="PlaceHolder 1"/>
          <p:cNvSpPr>
            <a:spLocks noGrp="1"/>
          </p:cNvSpPr>
          <p:nvPr>
            <p:ph type="sldNum" idx="14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17D3A9D-CED7-4795-87B0-4A5B4EAD6C01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5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Google Shape;89;p7"/>
          <p:cNvSpPr/>
          <p:nvPr/>
        </p:nvSpPr>
        <p:spPr>
          <a:xfrm>
            <a:off x="5057640" y="290520"/>
            <a:ext cx="90691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Design Methodology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5" name="Google Shape;69;p 1"/>
          <p:cNvGraphicFramePr/>
          <p:nvPr/>
        </p:nvGraphicFramePr>
        <p:xfrm>
          <a:off x="986040" y="2026440"/>
          <a:ext cx="16458480" cy="3918960"/>
        </p:xfrm>
        <a:graphic>
          <a:graphicData uri="http://schemas.openxmlformats.org/drawingml/2006/table">
            <a:tbl>
              <a:tblPr/>
              <a:tblGrid>
                <a:gridCol w="1371600"/>
                <a:gridCol w="5378400"/>
                <a:gridCol w="9708840"/>
              </a:tblGrid>
              <a:tr h="64008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Sl No 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Components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Purpose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ESP32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Collects data from sensors; sends via MQTT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LoRa Module 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Long-range wireless communication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BME280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Measures temp/humidity/pressure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GPS Module 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Tracks location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6" name="Google Shape;69;p 2"/>
          <p:cNvGraphicFramePr/>
          <p:nvPr/>
        </p:nvGraphicFramePr>
        <p:xfrm>
          <a:off x="1251720" y="6036480"/>
          <a:ext cx="16458480" cy="3372480"/>
        </p:xfrm>
        <a:graphic>
          <a:graphicData uri="http://schemas.openxmlformats.org/drawingml/2006/table">
            <a:tbl>
              <a:tblPr/>
              <a:tblGrid>
                <a:gridCol w="1365120"/>
                <a:gridCol w="5384880"/>
                <a:gridCol w="9708840"/>
              </a:tblGrid>
              <a:tr h="64008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Sl No 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Components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Purpose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Next.js (Frontend)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Web dashboard for farmers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MQTT Broker (Mosquitto)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Lightweight messaging protocol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PostgreSQL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Database to store sensor readings &amp; logic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Node.js + Express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API backend for sensor data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MicroPython / Arduino IDE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Programming ESP32 sensor logic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75;p6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58" name="Google Shape;76;p6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sldNum" idx="15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B93913-971E-42F0-836D-84DCB221511E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6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Google Shape;78;p6"/>
          <p:cNvSpPr/>
          <p:nvPr/>
        </p:nvSpPr>
        <p:spPr>
          <a:xfrm>
            <a:off x="995400" y="2378160"/>
            <a:ext cx="18525960" cy="61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Arial"/>
              </a:rPr>
              <a:t>ESP32 + LoRa enables low-power, long-range wireless communication for field-deployed sensor nodes.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Arial"/>
              </a:rPr>
              <a:t>MQTT ensures efficient, real-time data transfer between devices and the backend with minimal bandwidth.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Arial"/>
              </a:rPr>
              <a:t>PostgreSQL provides reliable storage, advanced geospatial queries, and robust data integrity for sensor logs.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Arial"/>
              </a:rPr>
              <a:t>Next.js delivers a fast, modern web dashboard with server-side rendering and seamless user experience.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Arial"/>
              </a:rPr>
              <a:t>Python allows flexible backend scripting for data processing, alert logic, and easy future enhancements.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Arial"/>
              </a:rPr>
              <a:t>Leaflet.js integrates interactive maps for live location tracking and visualization of all field nodes.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Arial"/>
              </a:rPr>
              <a:t>Bootstrap ensures the dashboard is mobile-friendly and accessible to users with varying digital skills.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Arial"/>
              </a:rPr>
              <a:t>Arduino IDE simplifies firmware development and rapid prototyping for ESP32-based sensor nodes.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  <a:spcBef>
                <a:spcPts val="1474"/>
              </a:spcBef>
              <a:spcAft>
                <a:spcPts val="1276"/>
              </a:spcAft>
              <a:tabLst>
                <a:tab algn="l" pos="0"/>
              </a:tabLst>
            </a:pP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</p:txBody>
      </p:sp>
      <p:sp>
        <p:nvSpPr>
          <p:cNvPr id="61" name="Google Shape;79;p6"/>
          <p:cNvSpPr/>
          <p:nvPr/>
        </p:nvSpPr>
        <p:spPr>
          <a:xfrm>
            <a:off x="5057640" y="290520"/>
            <a:ext cx="90691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Design Methodology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Google Shape;78;p 1"/>
          <p:cNvSpPr/>
          <p:nvPr/>
        </p:nvSpPr>
        <p:spPr>
          <a:xfrm>
            <a:off x="1025280" y="6143400"/>
            <a:ext cx="185259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Times New Roman"/>
                <a:ea typeface="Arial"/>
              </a:rPr>
              <a:t>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95;p9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64" name="Google Shape;96;p9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sldNum" idx="16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A3B69BD-FDAC-4055-AC56-54A61F4125E3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6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Google Shape;98;p9"/>
          <p:cNvSpPr/>
          <p:nvPr/>
        </p:nvSpPr>
        <p:spPr>
          <a:xfrm>
            <a:off x="1008000" y="2073240"/>
            <a:ext cx="18525960" cy="88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Module Name: Real-Time Location Tracking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Purpose: To update and display user/node GPS location.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Input: GPS coordinates from FieldNode device.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Function: Receives, stores, and maps location data.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Output: User location with timestamp shown on dashboard.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</a:pPr>
            <a:r>
              <a:rPr b="1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Module Name: Environmental Monitoring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Purpose: To monitor temperature and pressure at each node.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Input: Data from BME280 sensor.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Function: Reads, transmits, and logs environmental data.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Output: Temperature and pressure values with timestamp.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</a:pPr>
            <a:r>
              <a:rPr b="1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Module Name: Battery/Energy Monitoring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Purpose: To track and report device battery status.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Input: Battery voltage/current from FieldNode.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Function: Reads, evaluates, and reports battery level.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Output: Battery percentage and status alert if low.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</a:pPr>
            <a:br>
              <a:rPr sz="2400"/>
            </a:b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>
              <a:lnSpc>
                <a:spcPct val="100000"/>
              </a:lnSpc>
            </a:pPr>
            <a:r>
              <a:rPr b="1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Module Name: Emergency Alert System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Purpose: To notify admin and users of emergencies.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Input: Emergency trigger from user/device.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Function: Broadcasts alert, logs event, notifies relevant users.</a:t>
            </a:r>
            <a:br>
              <a:rPr sz="2400"/>
            </a:b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Output: Emergency alert message with user/location info.</a:t>
            </a:r>
            <a:endParaRPr b="0" lang="en-US" sz="2400" spc="-1" strike="noStrike">
              <a:solidFill>
                <a:srgbClr val="000000"/>
              </a:solidFill>
              <a:latin typeface="Arial"/>
              <a:ea typeface="Noto Sans CJK SC"/>
            </a:endParaRPr>
          </a:p>
        </p:txBody>
      </p:sp>
      <p:sp>
        <p:nvSpPr>
          <p:cNvPr id="67" name="Google Shape;99;p9"/>
          <p:cNvSpPr/>
          <p:nvPr/>
        </p:nvSpPr>
        <p:spPr>
          <a:xfrm>
            <a:off x="5057640" y="290520"/>
            <a:ext cx="95277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Functional Requirements Specification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105;p10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69" name="Google Shape;106;p10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70" name="PlaceHolder 1"/>
          <p:cNvSpPr>
            <a:spLocks noGrp="1"/>
          </p:cNvSpPr>
          <p:nvPr>
            <p:ph type="sldNum" idx="17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0C2A507-AC0B-41E1-95ED-14A1DD87B90A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8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Google Shape;109;p10"/>
          <p:cNvSpPr/>
          <p:nvPr/>
        </p:nvSpPr>
        <p:spPr>
          <a:xfrm>
            <a:off x="5057640" y="290520"/>
            <a:ext cx="106390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Non-Functional Requirements Specification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2" name="Google Shape;69;p 3"/>
          <p:cNvGraphicFramePr/>
          <p:nvPr/>
        </p:nvGraphicFramePr>
        <p:xfrm>
          <a:off x="1194840" y="2414160"/>
          <a:ext cx="17214840" cy="2937240"/>
        </p:xfrm>
        <a:graphic>
          <a:graphicData uri="http://schemas.openxmlformats.org/drawingml/2006/table">
            <a:tbl>
              <a:tblPr/>
              <a:tblGrid>
                <a:gridCol w="1417680"/>
                <a:gridCol w="5592960"/>
                <a:gridCol w="10204560"/>
              </a:tblGrid>
              <a:tr h="64008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Sl No 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Components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Purpose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System Availability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The system shall be available 95% of the time during operational hours (6 AM – 6 PM).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Sensor Data Latency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Data from ESP32 sensors shall reach the backend within ≤ 3 seconds of collection.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5464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Security (Access Control)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Only authenticated users can access the dashboard and track location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7523640" y="656280"/>
            <a:ext cx="5056200" cy="125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Arial"/>
              </a:rPr>
              <a:t>Design Constrains</a:t>
            </a:r>
            <a:br>
              <a:rPr sz="4400"/>
            </a:b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4" name="Google Shape;69;p 4"/>
          <p:cNvGraphicFramePr/>
          <p:nvPr/>
        </p:nvGraphicFramePr>
        <p:xfrm>
          <a:off x="1577520" y="2368440"/>
          <a:ext cx="17352720" cy="5740200"/>
        </p:xfrm>
        <a:graphic>
          <a:graphicData uri="http://schemas.openxmlformats.org/drawingml/2006/table">
            <a:tbl>
              <a:tblPr/>
              <a:tblGrid>
                <a:gridCol w="1439280"/>
                <a:gridCol w="3513960"/>
                <a:gridCol w="12399840"/>
              </a:tblGrid>
              <a:tr h="95652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Sl No 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Constraint Type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IN" sz="2400" spc="-1" strike="noStrike">
                          <a:solidFill>
                            <a:schemeClr val="lt1"/>
                          </a:solidFill>
                          <a:latin typeface="Times New Roman"/>
                          <a:ea typeface="Times New Roman"/>
                        </a:rPr>
                        <a:t>Description</a:t>
                      </a: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b="0" lang="en-US" sz="2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9565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Technical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b="0" lang="en-IN" sz="2400" spc="-1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</a:rPr>
                        <a:t>LoRa communication range is limited by environmental obstacles and legal frequency restrictions; GPS accuracy may be affected by terrain and weather.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9565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Time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Project must be completed within the academic semester duration (4 months).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Integration and testing across hardware and software must fit into limited lab sessions.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9565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Budget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Only low-cost, readily available components (ESP32, LoRa, BME280, GPS) are used; advanced modules or commercial IoT platforms are excluded.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9565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Resources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Development and testing are limited to a small student team and a 5-node prototype; large-scale deployment and professional support are not included.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957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Deployment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System is designed for local or LAN-based deployment; cloud hosting and remote access are not implemented in the initial version.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  <a:tr h="957960">
                <a:tc>
                  <a:txBody>
                    <a:bodyPr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Environmental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b="0" lang="en-US" sz="2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Devices are tested in controlled or semi-controlled environments; harsh outdoor conditions (extreme weather) are not fully addressed in the prototype.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8fb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115;p11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76" name="Google Shape;116;p11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77" name="PlaceHolder 1"/>
          <p:cNvSpPr>
            <a:spLocks noGrp="1"/>
          </p:cNvSpPr>
          <p:nvPr>
            <p:ph type="sldNum" idx="18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035FA7D-A95F-40EC-9168-036FD17DECA0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10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Google Shape;119;p11"/>
          <p:cNvSpPr/>
          <p:nvPr/>
        </p:nvSpPr>
        <p:spPr>
          <a:xfrm>
            <a:off x="5057640" y="290520"/>
            <a:ext cx="90691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System Design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9" name="" descr=""/>
          <p:cNvPicPr/>
          <p:nvPr/>
        </p:nvPicPr>
        <p:blipFill>
          <a:blip r:embed="rId1"/>
          <a:stretch/>
        </p:blipFill>
        <p:spPr>
          <a:xfrm>
            <a:off x="3742920" y="3281040"/>
            <a:ext cx="12617280" cy="6339240"/>
          </a:xfrm>
          <a:prstGeom prst="rect">
            <a:avLst/>
          </a:prstGeom>
          <a:ln w="0">
            <a:noFill/>
          </a:ln>
        </p:spPr>
      </p:pic>
      <p:sp>
        <p:nvSpPr>
          <p:cNvPr id="80" name="Google Shape;119;p 1"/>
          <p:cNvSpPr/>
          <p:nvPr/>
        </p:nvSpPr>
        <p:spPr>
          <a:xfrm>
            <a:off x="347400" y="2081880"/>
            <a:ext cx="27853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28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Block Diagram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126;p12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82" name="Google Shape;127;p12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sldNum" idx="19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150BF2C-B353-43FC-8759-A65B641D4266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11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Google Shape;129;p12"/>
          <p:cNvSpPr/>
          <p:nvPr/>
        </p:nvSpPr>
        <p:spPr>
          <a:xfrm>
            <a:off x="969840" y="1847520"/>
            <a:ext cx="18525960" cy="46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Architectural diagram should  be shown and explained &lt;&lt;sample given&gt;&gt;  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Google Shape;130;p12"/>
          <p:cNvSpPr/>
          <p:nvPr/>
        </p:nvSpPr>
        <p:spPr>
          <a:xfrm>
            <a:off x="5057640" y="290520"/>
            <a:ext cx="90691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System Design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137;p13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87" name="Google Shape;138;p13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sldNum" idx="20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7276BB9-2B25-458C-AFD2-27AD11E6791A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12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Google Shape;140;p13"/>
          <p:cNvSpPr/>
          <p:nvPr/>
        </p:nvSpPr>
        <p:spPr>
          <a:xfrm>
            <a:off x="995400" y="2623320"/>
            <a:ext cx="18525960" cy="46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100000"/>
              </a:lnSpc>
            </a:pPr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Use Case diagram, sequence diagram, Class Diagram, activity diagram to be drawn with proper notations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Google Shape;141;p13"/>
          <p:cNvSpPr/>
          <p:nvPr/>
        </p:nvSpPr>
        <p:spPr>
          <a:xfrm>
            <a:off x="5057640" y="290520"/>
            <a:ext cx="90691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Detailed Design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147;g3616559daea_0_0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92" name="Google Shape;148;g3616559daea_0_0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93" name="PlaceHolder 1"/>
          <p:cNvSpPr>
            <a:spLocks noGrp="1"/>
          </p:cNvSpPr>
          <p:nvPr>
            <p:ph type="sldNum" idx="21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139BE90-E2DC-410D-A1C7-3D213D30990F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13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Google Shape;151;g3616559daea_0_0"/>
          <p:cNvSpPr/>
          <p:nvPr/>
        </p:nvSpPr>
        <p:spPr>
          <a:xfrm>
            <a:off x="5057640" y="290520"/>
            <a:ext cx="9069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Detailed Design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511400" y="8595720"/>
            <a:ext cx="3237840" cy="653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DFD – Level 0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" name="" descr=""/>
          <p:cNvPicPr/>
          <p:nvPr/>
        </p:nvPicPr>
        <p:blipFill>
          <a:blip r:embed="rId1"/>
          <a:stretch/>
        </p:blipFill>
        <p:spPr>
          <a:xfrm>
            <a:off x="3711600" y="3186000"/>
            <a:ext cx="11913480" cy="4641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" descr=""/>
          <p:cNvPicPr/>
          <p:nvPr/>
        </p:nvPicPr>
        <p:blipFill>
          <a:blip r:embed="rId1"/>
          <a:stretch/>
        </p:blipFill>
        <p:spPr>
          <a:xfrm>
            <a:off x="4401360" y="2286000"/>
            <a:ext cx="10700280" cy="7533000"/>
          </a:xfrm>
          <a:prstGeom prst="rect">
            <a:avLst/>
          </a:prstGeom>
          <a:ln w="0">
            <a:noFill/>
          </a:ln>
        </p:spPr>
      </p:pic>
      <p:sp>
        <p:nvSpPr>
          <p:cNvPr id="98" name=""/>
          <p:cNvSpPr txBox="1"/>
          <p:nvPr/>
        </p:nvSpPr>
        <p:spPr>
          <a:xfrm>
            <a:off x="8121240" y="10092240"/>
            <a:ext cx="3237840" cy="653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IN" sz="40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DFD – Level 1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157;p14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00" name="Google Shape;158;p14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01" name="PlaceHolder 1"/>
          <p:cNvSpPr>
            <a:spLocks noGrp="1"/>
          </p:cNvSpPr>
          <p:nvPr>
            <p:ph type="sldNum" idx="22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D36BBDB-F57E-435A-8E8A-9C340A24C99F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15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Google Shape;161;p14"/>
          <p:cNvSpPr/>
          <p:nvPr/>
        </p:nvSpPr>
        <p:spPr>
          <a:xfrm>
            <a:off x="5057640" y="290520"/>
            <a:ext cx="90691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Work Progress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554400" y="2341440"/>
            <a:ext cx="18662040" cy="7891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2800" spc="-1" strike="noStrike">
                <a:solidFill>
                  <a:srgbClr val="000000"/>
                </a:solidFill>
                <a:latin typeface="Arial"/>
              </a:rPr>
              <a:t>Work completed so far: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Design and selection of all hardware components (ESP32, LoRa, GPS, BMP180, Li-ion battery)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Initial web dashboard (Next.js) for user authentication, location display, and alert visualization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r>
              <a:rPr b="1" lang="en-US" sz="2400" spc="-1" strike="noStrike">
                <a:solidFill>
                  <a:srgbClr val="000000"/>
                </a:solidFill>
                <a:latin typeface="Arial"/>
              </a:rPr>
              <a:t>Plan for Further Work</a:t>
            </a:r>
            <a:endParaRPr b="1" lang="en-US" sz="24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Complete physical assembly and wiring of ESP32+LoRa+GPS+BME280 hardware nodes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Integrate battery monitoring and test power management features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Finalize and test real-time data transmission from hardware to backend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Enhance dashboard with historical data visualization and advanced filtering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Conduct field deployment and calibration of all sensors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67;p15"/>
          <p:cNvSpPr/>
          <p:nvPr/>
        </p:nvSpPr>
        <p:spPr>
          <a:xfrm>
            <a:off x="2982960" y="712800"/>
            <a:ext cx="55440" cy="55440"/>
          </a:xfrm>
          <a:custGeom>
            <a:avLst/>
            <a:gdLst>
              <a:gd name="textAreaLeft" fmla="*/ 0 w 55440"/>
              <a:gd name="textAreaRight" fmla="*/ 57240 w 55440"/>
              <a:gd name="textAreaTop" fmla="*/ 0 h 55440"/>
              <a:gd name="textAreaBottom" fmla="*/ 57240 h 55440"/>
            </a:gdLst>
            <a:ahLst/>
            <a:rect l="textAreaLeft" t="textAreaTop" r="textAreaRight" b="textAreaBottom"/>
            <a:pathLst>
              <a:path w="56514" h="56515">
                <a:moveTo>
                  <a:pt x="28145" y="0"/>
                </a:moveTo>
                <a:lnTo>
                  <a:pt x="17201" y="2207"/>
                </a:lnTo>
                <a:lnTo>
                  <a:pt x="8253" y="8227"/>
                </a:lnTo>
                <a:lnTo>
                  <a:pt x="2215" y="17157"/>
                </a:lnTo>
                <a:lnTo>
                  <a:pt x="0" y="28093"/>
                </a:lnTo>
                <a:lnTo>
                  <a:pt x="2215" y="39037"/>
                </a:lnTo>
                <a:lnTo>
                  <a:pt x="8253" y="47985"/>
                </a:lnTo>
                <a:lnTo>
                  <a:pt x="17201" y="54023"/>
                </a:lnTo>
                <a:lnTo>
                  <a:pt x="28145" y="56239"/>
                </a:lnTo>
                <a:lnTo>
                  <a:pt x="39070" y="54023"/>
                </a:lnTo>
                <a:lnTo>
                  <a:pt x="41803" y="52176"/>
                </a:lnTo>
                <a:lnTo>
                  <a:pt x="28145" y="52176"/>
                </a:lnTo>
                <a:lnTo>
                  <a:pt x="18763" y="50280"/>
                </a:lnTo>
                <a:lnTo>
                  <a:pt x="11109" y="45113"/>
                </a:lnTo>
                <a:lnTo>
                  <a:pt x="5952" y="37457"/>
                </a:lnTo>
                <a:lnTo>
                  <a:pt x="4062" y="28093"/>
                </a:lnTo>
                <a:lnTo>
                  <a:pt x="5952" y="18722"/>
                </a:lnTo>
                <a:lnTo>
                  <a:pt x="11109" y="11052"/>
                </a:lnTo>
                <a:lnTo>
                  <a:pt x="18763" y="5870"/>
                </a:lnTo>
                <a:lnTo>
                  <a:pt x="28145" y="3968"/>
                </a:lnTo>
                <a:lnTo>
                  <a:pt x="41684" y="3968"/>
                </a:lnTo>
                <a:lnTo>
                  <a:pt x="39070" y="2207"/>
                </a:lnTo>
                <a:lnTo>
                  <a:pt x="28145" y="0"/>
                </a:lnTo>
                <a:close/>
              </a:path>
              <a:path w="56514" h="56515">
                <a:moveTo>
                  <a:pt x="41684" y="3968"/>
                </a:moveTo>
                <a:lnTo>
                  <a:pt x="28145" y="3968"/>
                </a:lnTo>
                <a:lnTo>
                  <a:pt x="37527" y="5870"/>
                </a:lnTo>
                <a:lnTo>
                  <a:pt x="45181" y="11052"/>
                </a:lnTo>
                <a:lnTo>
                  <a:pt x="50338" y="18722"/>
                </a:lnTo>
                <a:lnTo>
                  <a:pt x="52228" y="28093"/>
                </a:lnTo>
                <a:lnTo>
                  <a:pt x="50338" y="37457"/>
                </a:lnTo>
                <a:lnTo>
                  <a:pt x="45181" y="45113"/>
                </a:lnTo>
                <a:lnTo>
                  <a:pt x="37527" y="50280"/>
                </a:lnTo>
                <a:lnTo>
                  <a:pt x="28145" y="52176"/>
                </a:lnTo>
                <a:lnTo>
                  <a:pt x="41803" y="52176"/>
                </a:lnTo>
                <a:lnTo>
                  <a:pt x="48005" y="47985"/>
                </a:lnTo>
                <a:lnTo>
                  <a:pt x="54036" y="39037"/>
                </a:lnTo>
                <a:lnTo>
                  <a:pt x="56249" y="28093"/>
                </a:lnTo>
                <a:lnTo>
                  <a:pt x="54036" y="17157"/>
                </a:lnTo>
                <a:lnTo>
                  <a:pt x="48005" y="8227"/>
                </a:lnTo>
                <a:lnTo>
                  <a:pt x="41684" y="3968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05" name="Google Shape;168;p15"/>
          <p:cNvSpPr/>
          <p:nvPr/>
        </p:nvSpPr>
        <p:spPr>
          <a:xfrm>
            <a:off x="2998800" y="725400"/>
            <a:ext cx="23760" cy="29880"/>
          </a:xfrm>
          <a:custGeom>
            <a:avLst/>
            <a:gdLst>
              <a:gd name="textAreaLeft" fmla="*/ 0 w 23760"/>
              <a:gd name="textAreaRight" fmla="*/ 25560 w 23760"/>
              <a:gd name="textAreaTop" fmla="*/ 0 h 29880"/>
              <a:gd name="textAreaBottom" fmla="*/ 31680 h 29880"/>
            </a:gdLst>
            <a:ahLst/>
            <a:rect l="textAreaLeft" t="textAreaTop" r="textAreaRight" b="textAreaBottom"/>
            <a:pathLst>
              <a:path w="25400" h="31750">
                <a:moveTo>
                  <a:pt x="11999" y="0"/>
                </a:moveTo>
                <a:lnTo>
                  <a:pt x="0" y="0"/>
                </a:lnTo>
                <a:lnTo>
                  <a:pt x="0" y="31423"/>
                </a:lnTo>
                <a:lnTo>
                  <a:pt x="5675" y="31423"/>
                </a:lnTo>
                <a:lnTo>
                  <a:pt x="5675" y="18292"/>
                </a:lnTo>
                <a:lnTo>
                  <a:pt x="16472" y="18292"/>
                </a:lnTo>
                <a:lnTo>
                  <a:pt x="15633" y="17570"/>
                </a:lnTo>
                <a:lnTo>
                  <a:pt x="21266" y="14669"/>
                </a:lnTo>
                <a:lnTo>
                  <a:pt x="21701" y="13277"/>
                </a:lnTo>
                <a:lnTo>
                  <a:pt x="5675" y="13277"/>
                </a:lnTo>
                <a:lnTo>
                  <a:pt x="5675" y="5329"/>
                </a:lnTo>
                <a:lnTo>
                  <a:pt x="22239" y="5329"/>
                </a:lnTo>
                <a:lnTo>
                  <a:pt x="21884" y="3863"/>
                </a:lnTo>
                <a:lnTo>
                  <a:pt x="18564" y="848"/>
                </a:lnTo>
                <a:lnTo>
                  <a:pt x="11999" y="0"/>
                </a:lnTo>
                <a:close/>
              </a:path>
              <a:path w="25400" h="31750">
                <a:moveTo>
                  <a:pt x="16472" y="18292"/>
                </a:moveTo>
                <a:lnTo>
                  <a:pt x="6837" y="18292"/>
                </a:lnTo>
                <a:lnTo>
                  <a:pt x="9727" y="18680"/>
                </a:lnTo>
                <a:lnTo>
                  <a:pt x="11465" y="19999"/>
                </a:lnTo>
                <a:lnTo>
                  <a:pt x="14470" y="24596"/>
                </a:lnTo>
                <a:lnTo>
                  <a:pt x="18564" y="31423"/>
                </a:lnTo>
                <a:lnTo>
                  <a:pt x="25402" y="31423"/>
                </a:lnTo>
                <a:lnTo>
                  <a:pt x="21967" y="25318"/>
                </a:lnTo>
                <a:lnTo>
                  <a:pt x="18721" y="20229"/>
                </a:lnTo>
                <a:lnTo>
                  <a:pt x="16472" y="18292"/>
                </a:lnTo>
                <a:close/>
              </a:path>
              <a:path w="25400" h="31750">
                <a:moveTo>
                  <a:pt x="22239" y="5329"/>
                </a:moveTo>
                <a:lnTo>
                  <a:pt x="10156" y="5329"/>
                </a:lnTo>
                <a:lnTo>
                  <a:pt x="14324" y="5444"/>
                </a:lnTo>
                <a:lnTo>
                  <a:pt x="16449" y="6638"/>
                </a:lnTo>
                <a:lnTo>
                  <a:pt x="17224" y="9224"/>
                </a:lnTo>
                <a:lnTo>
                  <a:pt x="16638" y="11580"/>
                </a:lnTo>
                <a:lnTo>
                  <a:pt x="15057" y="12889"/>
                </a:lnTo>
                <a:lnTo>
                  <a:pt x="9926" y="13277"/>
                </a:lnTo>
                <a:lnTo>
                  <a:pt x="21701" y="13277"/>
                </a:lnTo>
                <a:lnTo>
                  <a:pt x="23088" y="8837"/>
                </a:lnTo>
                <a:lnTo>
                  <a:pt x="22239" y="5329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06" name="PlaceHolder 1"/>
          <p:cNvSpPr>
            <a:spLocks noGrp="1"/>
          </p:cNvSpPr>
          <p:nvPr>
            <p:ph type="sldNum" idx="23"/>
          </p:nvPr>
        </p:nvSpPr>
        <p:spPr>
          <a:xfrm>
            <a:off x="18627840" y="10253160"/>
            <a:ext cx="1203480" cy="86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IN" sz="22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EE2D88-EACB-4FA7-965A-916722DD006F}" type="slidenum">
              <a:rPr b="0" lang="en-IN" sz="2200" spc="-1" strike="noStrike">
                <a:solidFill>
                  <a:schemeClr val="dk2"/>
                </a:solidFill>
                <a:latin typeface="Arial"/>
                <a:ea typeface="Arial"/>
              </a:rPr>
              <a:t>16</a:t>
            </a:fld>
            <a:endParaRPr b="0" lang="en-US" sz="2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Google Shape;171;p15"/>
          <p:cNvSpPr/>
          <p:nvPr/>
        </p:nvSpPr>
        <p:spPr>
          <a:xfrm>
            <a:off x="905040" y="2229840"/>
            <a:ext cx="18525960" cy="90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1] C. Wu et al., "Ultra-Low-Power LoRa Mesh Networks for Wilderness Tracking," IEEE Transactions on Wireless Communications, vol. 24, no. 3, pp. 45-58, 2025.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[2] A. Khan and B. Li, "Adaptive GPS-LoRa Hybrid Positioning for Remote Areas," IEEE Internet of Things Journal, vol. 12, no. 1, pp. 112-125, 2024.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[3] E. Rodriguez et al., "Energy-Efficient Emergency Alert Systems Using ESP32," IEEE Sensors Journal, vol. 23, no. 8, pp. 210-223, 2024.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[4] G. Park and H. Kim, "Decentralized Tracking in Mountainous Terrain: A LoRa Case Study," IEEE Communications Letters, vol. 27, no. 5, pp. 78-91, 2023.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[5] I. Petrov and J. Silva, "Edge Computing for Real-Time Wilderness Safety Monitoring," IEEE Access, vol. 11, pp. 345-360, 2023.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[6] M. Tanaka and S. Chen, "Battery Optimization Techniques for IoT Tracking Devices," IEEE Transactions on Power Electronics, vol. 38, no. 4, pp. 201-215, 2022.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[7] R. Kumar and P. Sharma, "LoRa-Based Communication Challenges in Himalayan Regions," IEEE Wireless Communications Letters, vol. 10, no. 6, pp. 132-145, 2022.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[8] S. Desai and L. Prakash, "Comparative Analysis of Trekker Safety Systems," IEEE Consumer Electronics Magazine, vol. 11, no. 2, pp. 67-79, 2022.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[9] T. Nguyen and V. Patel, "Low-Power Sensor Fusion for Wilderness Tracking," IEEE Sensors Journal, vol. 21, no. 9, pp. 89-102, 2021.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IN" sz="2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[10] W. Zhang and X. Liu, "IoT Architectures for Remote Area Monitoring," IEEE Internet of Things Journal, vol. 8, no. 5, pp. 156-170, 2021.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Google Shape;172;p15"/>
          <p:cNvSpPr/>
          <p:nvPr/>
        </p:nvSpPr>
        <p:spPr>
          <a:xfrm>
            <a:off x="5057640" y="290520"/>
            <a:ext cx="906912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IN" sz="4400" spc="-1" strike="noStrike">
                <a:solidFill>
                  <a:srgbClr val="000000"/>
                </a:solidFill>
                <a:latin typeface="Times New Roman"/>
                <a:ea typeface="Times New Roman"/>
              </a:rPr>
              <a:t>References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4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4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4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4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4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1060</TotalTime>
  <Application>LibreOffice/24.2.7.2$Linux_X86_64 LibreOffice_project/420$Build-2</Application>
  <AppVersion>15.0000</AppVersion>
  <Words>420</Words>
  <Paragraphs>185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2019-11-25T06:56:12Z</dcterms:created>
  <dc:creator>Srobona Das</dc:creator>
  <dc:description/>
  <dc:language>en-US</dc:language>
  <cp:lastModifiedBy/>
  <dcterms:modified xsi:type="dcterms:W3CDTF">2025-06-16T14:42:16Z</dcterms:modified>
  <cp:revision>56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2019-11-25T00:00:00Z</vt:filetime>
  </property>
  <property fmtid="{D5CDD505-2E9C-101B-9397-08002B2CF9AE}" pid="3" name="Creator">
    <vt:lpwstr>Adobe Illustrator CC 23.1 (Macintosh)</vt:lpwstr>
  </property>
  <property fmtid="{D5CDD505-2E9C-101B-9397-08002B2CF9AE}" pid="4" name="LastSaved">
    <vt:filetime>2019-11-25T00:00:00Z</vt:filetime>
  </property>
  <property fmtid="{D5CDD505-2E9C-101B-9397-08002B2CF9AE}" pid="5" name="Notes">
    <vt:i4>14</vt:i4>
  </property>
  <property fmtid="{D5CDD505-2E9C-101B-9397-08002B2CF9AE}" pid="6" name="PresentationFormat">
    <vt:lpwstr>Custom</vt:lpwstr>
  </property>
  <property fmtid="{D5CDD505-2E9C-101B-9397-08002B2CF9AE}" pid="7" name="Slides">
    <vt:i4>15</vt:i4>
  </property>
</Properties>
</file>