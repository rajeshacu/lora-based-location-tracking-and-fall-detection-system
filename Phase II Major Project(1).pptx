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_rels/notesSlide1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20104100" cy="11309350"/>
  <p:notesSz cx="20104100" cy="1130935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EC9C40F-4236-4DAE-B021-3D92C44A1E5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24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699AA3-FC08-48CB-981A-224BE5FD29EB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25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5ACA20-D7DA-4C98-BC77-1EE580544B92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26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A20EFD-4B1A-4962-A9F3-1A96B716B0EA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27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5B9C8A-91F9-4A6C-AE8E-29DDE00D2AD5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28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44A4A0-9951-4E20-B330-6A1583F89B2C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29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5B9B68-B77E-40F6-91A0-1215353689F8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30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34A404-737D-4474-B349-7A3B96F58ABB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31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A23CA2-E0DE-4E18-BD51-A5A34D6F5781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32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894E9D-6F49-4C7E-9979-8CD34B9E1A06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33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DCBF0E-C0FA-4113-88F0-2275348BDE64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34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3FB90C-C631-4288-B0F6-E0EB28999BE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35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A544CC-EEF5-4E6D-9C82-5BA6ADF8017B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36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AC5DE2-9359-46B8-A52F-2AE321628AE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1EBD854-F1F0-4562-A1F6-98A328F32DD6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755A33-6896-4697-9BAA-B2D5E1B5B3BD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1FD31F2-FD3C-4513-AD3D-84F09F801B4A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8F4CCA8-DF2B-40E9-9D8C-6388AF31E82F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8776463-8338-45D5-B1E4-38C5A14A6CB3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30800" cy="12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30800" cy="75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C250CA8-03B6-4EA3-BEC5-20D232EFA0F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10;p16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" name="Google Shape;13;p16" descr=""/>
          <p:cNvPicPr/>
          <p:nvPr/>
        </p:nvPicPr>
        <p:blipFill>
          <a:blip r:embed="rId4"/>
          <a:stretch/>
        </p:blipFill>
        <p:spPr>
          <a:xfrm>
            <a:off x="7614360" y="10400400"/>
            <a:ext cx="4872960" cy="739080"/>
          </a:xfrm>
          <a:prstGeom prst="rect">
            <a:avLst/>
          </a:prstGeom>
          <a:ln w="0">
            <a:noFill/>
          </a:ln>
        </p:spPr>
      </p:pic>
      <p:sp>
        <p:nvSpPr>
          <p:cNvPr id="2" name="Google Shape;16;p17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" name="Google Shape;17;p17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7EBB23-38F6-476C-B41B-0D02B77D5F35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1005120" y="451080"/>
            <a:ext cx="18093240" cy="18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1005120" y="2646360"/>
            <a:ext cx="18093240" cy="655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8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1A6B72-22A9-4931-8CE8-D4F9FB5BB0BF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1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sldNum" idx="3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27A81D-96F8-4DD0-B7CF-F66144E374EB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4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sldNum" idx="4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352170-CA63-4AD9-A16A-DC442286BB5E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7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sldNum" idx="5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5B6EFE-645E-450A-B869-C831E8B6C35A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20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30800" cy="12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30800" cy="75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6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A7EF6A-EBB7-40D9-A8AC-0E0B5B22F270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5;p1"/>
          <p:cNvSpPr/>
          <p:nvPr/>
        </p:nvSpPr>
        <p:spPr>
          <a:xfrm>
            <a:off x="4443840" y="2008080"/>
            <a:ext cx="11215080" cy="13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Enhanced LongRange Location Tracking and Fall Detection System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Google Shape;36;p1"/>
          <p:cNvSpPr/>
          <p:nvPr/>
        </p:nvSpPr>
        <p:spPr>
          <a:xfrm>
            <a:off x="1575360" y="3254400"/>
            <a:ext cx="17015400" cy="69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1RV23MC039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RAJESHA C U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Under the Guidance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DR. Deepika K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External Guide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Associate Professor                       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Designation 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Department of MCA                   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Affiliation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sldNum" idx="10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4257D6-F296-4839-A0EF-FA47E67326A2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Google Shape;38;p1"/>
          <p:cNvSpPr/>
          <p:nvPr/>
        </p:nvSpPr>
        <p:spPr>
          <a:xfrm>
            <a:off x="4599360" y="351000"/>
            <a:ext cx="10903680" cy="13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Major Project – MCA491P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44;p2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7" name="Google Shape;45;p2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sldNum" idx="11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19288D-7EF1-40F9-A29B-1F8B1677347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2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Google Shape;47;p2"/>
          <p:cNvSpPr/>
          <p:nvPr/>
        </p:nvSpPr>
        <p:spPr>
          <a:xfrm>
            <a:off x="1008000" y="2411280"/>
            <a:ext cx="18525960" cy="77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Changes suggested in Phase I and Incorporation 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Tools and Technologies Used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Hardware and Software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Requirements- Module specification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Constraints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design- Architecture design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Design- Class Diagram, Use Case diagram, sequence diagram, activity diagram and DFD (level-0 to level-2)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Google Shape;48;p2"/>
          <p:cNvSpPr/>
          <p:nvPr/>
        </p:nvSpPr>
        <p:spPr>
          <a:xfrm>
            <a:off x="5040000" y="971640"/>
            <a:ext cx="9069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Agenda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54;p4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2" name="Google Shape;55;p4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sldNum" idx="12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316212-511F-4D1C-9522-B4F3CB0E0E2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3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Google Shape;57;p4"/>
          <p:cNvSpPr/>
          <p:nvPr/>
        </p:nvSpPr>
        <p:spPr>
          <a:xfrm>
            <a:off x="995400" y="2149560"/>
            <a:ext cx="18525960" cy="612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Redifined the Objectives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oogle Shape;58;p4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Incorporation of Changes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64;p5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7" name="Google Shape;65;p5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634088-AA61-45AF-A454-4E5E353E2471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4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Google Shape;68;p5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Project based Learning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0" name="Google Shape;69;p5"/>
          <p:cNvGraphicFramePr/>
          <p:nvPr/>
        </p:nvGraphicFramePr>
        <p:xfrm>
          <a:off x="1822320" y="3885840"/>
          <a:ext cx="16458480" cy="2219040"/>
        </p:xfrm>
        <a:graphic>
          <a:graphicData uri="http://schemas.openxmlformats.org/drawingml/2006/table">
            <a:tbl>
              <a:tblPr/>
              <a:tblGrid>
                <a:gridCol w="1371600"/>
                <a:gridCol w="7619760"/>
                <a:gridCol w="7467480"/>
              </a:tblGrid>
              <a:tr h="81720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Particulars  / Details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Details of Implementation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700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Course on “ReactJS”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It helps us to design the frontend of the web interface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700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Course on “NodeJS”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It helps to build the backend of the web application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85;p7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2" name="Google Shape;86;p7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sldNum" idx="14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81CA47-C83B-4106-AA21-3E977CCFEE8D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Google Shape;89;p7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5" name="Google Shape;69;p 1"/>
          <p:cNvGraphicFramePr/>
          <p:nvPr/>
        </p:nvGraphicFramePr>
        <p:xfrm>
          <a:off x="986040" y="2026440"/>
          <a:ext cx="16458480" cy="3918960"/>
        </p:xfrm>
        <a:graphic>
          <a:graphicData uri="http://schemas.openxmlformats.org/drawingml/2006/table">
            <a:tbl>
              <a:tblPr/>
              <a:tblGrid>
                <a:gridCol w="1371600"/>
                <a:gridCol w="537840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ESP32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Collects data from sensors; sends via MQTT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LoRa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Long-range wireless communication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BME280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Measures temp/humidity/pressure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GPS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Tracks location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Google Shape;69;p 2"/>
          <p:cNvGraphicFramePr/>
          <p:nvPr/>
        </p:nvGraphicFramePr>
        <p:xfrm>
          <a:off x="1251720" y="6036480"/>
          <a:ext cx="16458480" cy="3372480"/>
        </p:xfrm>
        <a:graphic>
          <a:graphicData uri="http://schemas.openxmlformats.org/drawingml/2006/table">
            <a:tbl>
              <a:tblPr/>
              <a:tblGrid>
                <a:gridCol w="1365120"/>
                <a:gridCol w="538488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Next.js (Frontend)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Web dashboard for farmers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MQTT Broker (Mosquitto)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Lightweight messaging protocol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PostgreSQL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Database to store sensor readings &amp;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Node.js + Express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API backend for sensor data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MicroPython / Arduino IDE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Programming ESP32 sensor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75;p6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8" name="Google Shape;76;p6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sldNum" idx="15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53CB36-2552-4B8E-ABA2-15AC5097B9CB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6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Google Shape;78;p6"/>
          <p:cNvSpPr/>
          <p:nvPr/>
        </p:nvSpPr>
        <p:spPr>
          <a:xfrm>
            <a:off x="995400" y="2378160"/>
            <a:ext cx="18525960" cy="61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ESP32 + LoRa enables low-power, long-range wireless communication for field-deployed sensor nodes.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MQTT ensures efficient, real-time data transfer between devices and the backend with minimal bandwidth.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PostgreSQL provides reliable storage, advanced geospatial queries, and robust data integrity for sensor logs.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Next.js delivers a fast, modern web dashboard with server-side rendering and seamless user experience.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Python allows flexible backend scripting for data processing, alert logic, and easy future enhancements.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Leaflet.js integrates interactive maps for live location tracking and visualization of all field nodes.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Bootstrap ensures the dashboard is mobile-friendly and accessible to users with varying digital skills.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Arduino IDE simplifies firmware development and rapid prototyping for ESP32-based sensor nodes.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sp>
        <p:nvSpPr>
          <p:cNvPr id="61" name="Google Shape;79;p6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Google Shape;78;p 1"/>
          <p:cNvSpPr/>
          <p:nvPr/>
        </p:nvSpPr>
        <p:spPr>
          <a:xfrm>
            <a:off x="1025280" y="6143400"/>
            <a:ext cx="18525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95;p9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4" name="Google Shape;96;p9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sldNum" idx="16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8583A0-9985-4D0F-8CC3-3C431D4EA0AD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6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Google Shape;98;p9"/>
          <p:cNvSpPr/>
          <p:nvPr/>
        </p:nvSpPr>
        <p:spPr>
          <a:xfrm>
            <a:off x="1008000" y="2073240"/>
            <a:ext cx="18525960" cy="88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Real-Time Location Tracking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update and display user/node GPS location.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GPS coordinates from FieldNode 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Receives, stores, and maps location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User location with timestamp shown on dashboard.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Environmental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monitor temperature and pressure at each 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Data from BME280 sensor.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transmits, and logs environmental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Temperature and pressure values with timestamp.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Battery/Energy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track and report device battery status.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Battery voltage/current from FieldNode.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evaluates, and reports battery level.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Battery percentage and status alert if low.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Emergency Alert System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notify admin and users of emergencies.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Emergency trigger from user/device.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Broadcasts alert, logs event, notifies relevant users.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Emergency alert message with user/location info.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sp>
        <p:nvSpPr>
          <p:cNvPr id="67" name="Google Shape;99;p9"/>
          <p:cNvSpPr/>
          <p:nvPr/>
        </p:nvSpPr>
        <p:spPr>
          <a:xfrm>
            <a:off x="5057640" y="290520"/>
            <a:ext cx="9527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105;p10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9" name="Google Shape;106;p10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sldNum" idx="17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CF2D1E-82B9-4646-B3DD-26753FE787EB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8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Google Shape;109;p10"/>
          <p:cNvSpPr/>
          <p:nvPr/>
        </p:nvSpPr>
        <p:spPr>
          <a:xfrm>
            <a:off x="5057640" y="290520"/>
            <a:ext cx="10639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2" name="Google Shape;69;p 3"/>
          <p:cNvGraphicFramePr/>
          <p:nvPr/>
        </p:nvGraphicFramePr>
        <p:xfrm>
          <a:off x="1194840" y="2414160"/>
          <a:ext cx="17214840" cy="2937240"/>
        </p:xfrm>
        <a:graphic>
          <a:graphicData uri="http://schemas.openxmlformats.org/drawingml/2006/table">
            <a:tbl>
              <a:tblPr/>
              <a:tblGrid>
                <a:gridCol w="1417680"/>
                <a:gridCol w="5592960"/>
                <a:gridCol w="1020456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System Availability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The system shall be available 95% of the time during operational hours (6 AM – 6 PM).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Sensor Data Latency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Data from ESP32 sensors shall reach the backend within ≤ 3 seconds of collection.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Security (Access Control)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Only authenticated users can access the dashboard and track location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7523640" y="656280"/>
            <a:ext cx="5056200" cy="12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Arial"/>
              </a:rPr>
              <a:t>Design Constrains</a:t>
            </a:r>
            <a:br>
              <a:rPr sz="4400"/>
            </a:b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4" name="Google Shape;69;p 4"/>
          <p:cNvGraphicFramePr/>
          <p:nvPr/>
        </p:nvGraphicFramePr>
        <p:xfrm>
          <a:off x="1577520" y="2368440"/>
          <a:ext cx="17352720" cy="5740200"/>
        </p:xfrm>
        <a:graphic>
          <a:graphicData uri="http://schemas.openxmlformats.org/drawingml/2006/table">
            <a:tbl>
              <a:tblPr/>
              <a:tblGrid>
                <a:gridCol w="1439280"/>
                <a:gridCol w="3513960"/>
                <a:gridCol w="12399840"/>
              </a:tblGrid>
              <a:tr h="9565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Constraint Type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Description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Technical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LoRa communication range is limited by environmental obstacles and legal frequency restrictions; GPS accuracy may be affected by terrain and weather.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Project must be completed within the academic semester duration (4 months).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Integration and testing across hardware and software must fit into limited lab sessions.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Budget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Only low-cost, readily available components (ESP32, LoRa, BME280, GPS) are used; advanced modules or commercial IoT platforms are excluded.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Resources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Development and testing are limited to a small student team and a 5-node prototype; large-scale deployment and professional support are not included.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7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Deployment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System is designed for local or LAN-based deployment; cloud hosting and remote access are not implemented in the initial version.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7960">
                <a:tc>
                  <a:txBody>
                    <a:bodyPr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Environmental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Devices are tested in controlled or semi-controlled environments; harsh outdoor conditions (extreme weather) are not fully addressed in the prototype.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115;p11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6" name="Google Shape;116;p11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sldNum" idx="18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1E1FC2-ACCB-48BE-BA0F-4926BA0A0E0B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10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Google Shape;119;p11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" descr=""/>
          <p:cNvPicPr/>
          <p:nvPr/>
        </p:nvPicPr>
        <p:blipFill>
          <a:blip r:embed="rId1"/>
          <a:stretch/>
        </p:blipFill>
        <p:spPr>
          <a:xfrm>
            <a:off x="3742920" y="3281040"/>
            <a:ext cx="12617280" cy="6339240"/>
          </a:xfrm>
          <a:prstGeom prst="rect">
            <a:avLst/>
          </a:prstGeom>
          <a:ln w="0">
            <a:noFill/>
          </a:ln>
        </p:spPr>
      </p:pic>
      <p:sp>
        <p:nvSpPr>
          <p:cNvPr id="80" name="Google Shape;119;p 1"/>
          <p:cNvSpPr/>
          <p:nvPr/>
        </p:nvSpPr>
        <p:spPr>
          <a:xfrm>
            <a:off x="347400" y="2081880"/>
            <a:ext cx="27853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2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Block Diagram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126;p12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2" name="Google Shape;127;p12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19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7ABCE5-FF0D-46EE-8320-A770525BD382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11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Google Shape;129;p12"/>
          <p:cNvSpPr/>
          <p:nvPr/>
        </p:nvSpPr>
        <p:spPr>
          <a:xfrm>
            <a:off x="969840" y="1847520"/>
            <a:ext cx="18525960" cy="46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Architectural diagram should  be shown and explained &lt;&lt;sample given&gt;&gt; 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130;p12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137;p13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7" name="Google Shape;138;p13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sldNum" idx="20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256091-EEFC-4B56-A444-47C2A193156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12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Google Shape;140;p13"/>
          <p:cNvSpPr/>
          <p:nvPr/>
        </p:nvSpPr>
        <p:spPr>
          <a:xfrm>
            <a:off x="995400" y="2623320"/>
            <a:ext cx="18525960" cy="46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Use Case diagram, sequence diagram, Class Diagram, activity diagram to be drawn with proper notations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Google Shape;141;p13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147;g3616559daea_0_0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2" name="Google Shape;148;g3616559daea_0_0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sldNum" idx="21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54FF66-709C-4EC1-837C-2D3A83206F49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13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Google Shape;151;g3616559daea_0_0"/>
          <p:cNvSpPr/>
          <p:nvPr/>
        </p:nvSpPr>
        <p:spPr>
          <a:xfrm>
            <a:off x="5057640" y="290520"/>
            <a:ext cx="9069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511400" y="8595720"/>
            <a:ext cx="3237840" cy="65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 0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3711600" y="3186000"/>
            <a:ext cx="11913480" cy="464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157;p14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8" name="Google Shape;158;p14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sldNum" idx="22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09E36F-8326-4863-B59C-AD80DD699D4A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14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Google Shape;161;p14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54400" y="2341440"/>
            <a:ext cx="18662040" cy="789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800" spc="-1" strike="noStrike">
                <a:solidFill>
                  <a:srgbClr val="000000"/>
                </a:solidFill>
                <a:latin typeface="Arial"/>
              </a:rPr>
              <a:t>Work completed so far: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Design and selection of all hardware components (ESP32, LoRa, GPS,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BMP180, Li-ion battery)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Initial web dashboard (Next.js) for user authentication, location display,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and alert visualization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Plan for Further Work</a:t>
            </a:r>
            <a:endParaRPr b="1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Complete physical assembly and wiring of ESP32+LoRa+GPS+BME280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hardware nodes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Integrate battery monitoring and test power management features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Finalize and test real-time data transmission from hardware to backend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Enhance dashboard with historical data visualization and advanced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filtering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Conduct field deployment and calibration of all sensors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67;p15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3" name="Google Shape;168;p15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4" name="PlaceHolder 1"/>
          <p:cNvSpPr>
            <a:spLocks noGrp="1"/>
          </p:cNvSpPr>
          <p:nvPr>
            <p:ph type="sldNum" idx="23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9037A7-D54E-40B9-9708-4AF207B40533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Google Shape;171;p15"/>
          <p:cNvSpPr/>
          <p:nvPr/>
        </p:nvSpPr>
        <p:spPr>
          <a:xfrm>
            <a:off x="905040" y="2229840"/>
            <a:ext cx="18525960" cy="90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1] C. Wu et al., "Ultra-Low-Power LoRa Mesh Networks for Wilderness Tracking," IEEE Transactions on Wireless Communications, vol. 24, no. 3, pp. 45-58, 2025.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[2] A. Khan and B. Li, "Adaptive GPS-LoRa Hybrid Positioning for Remote Areas," IEEE Internet of Things Journal, vol. 12, no. 1, pp. 112-125,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[3] E. Rodriguez et al., "Energy-Efficient Emergency Alert Systems Using ESP32," IEEE Sensors Journal, vol. 23, no. 8, pp. 210-223,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[4] G. Park and H. Kim, "Decentralized Tracking in Mountainous Terrain: A LoRa Case Study," IEEE Communications Letters, vol. 27, no. 5, pp. 78-91,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[5] I. Petrov and J. Silva, "Edge Computing for Real-Time Wilderness Safety Monitoring," IEEE Access, vol. 11, pp. 345-360,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[6] M. Tanaka and S. Chen, "Battery Optimization Techniques for IoT Tracking Devices," IEEE Transactions on Power Electronics, vol. 38, no. 4, pp. 201-215,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[7] R. Kumar and P. Sharma, "LoRa-Based Communication Challenges in Himalayan Regions," IEEE Wireless Communications Letters, vol. 10, no. 6, pp. 132-145,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[8] S. Desai and L. Prakash, "Comparative Analysis of Trekker Safety Systems," IEEE Consumer Electronics Magazine, vol. 11, no. 2, pp. 67-79,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[9] T. Nguyen and V. Patel, "Low-Power Sensor Fusion for Wilderness Tracking," IEEE Sensors Journal, vol. 21, no. 9, pp. 89-102,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[10] W. Zhang and X. Liu, "IoT Architectures for Remote Area Monitoring," IEEE Internet of Things Journal, vol. 8, no. 5, pp. 156-170,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172;p15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872</TotalTime>
  <Application>LibreOffice/24.2.7.2$Linux_X86_64 LibreOffice_project/420$Build-2</Application>
  <AppVersion>15.0000</AppVersion>
  <Words>420</Words>
  <Paragraphs>185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2019-11-25T06:56:12Z</dcterms:created>
  <dc:creator>Srobona Das</dc:creator>
  <dc:description/>
  <dc:language>en-US</dc:language>
  <cp:lastModifiedBy/>
  <dcterms:modified xsi:type="dcterms:W3CDTF">2025-06-16T11:34:12Z</dcterms:modified>
  <cp:revision>52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2019-11-25T00:00:00Z</vt:filetime>
  </property>
  <property fmtid="{D5CDD505-2E9C-101B-9397-08002B2CF9AE}" pid="3" name="Creator">
    <vt:lpwstr>Adobe Illustrator CC 23.1 (Macintosh)</vt:lpwstr>
  </property>
  <property fmtid="{D5CDD505-2E9C-101B-9397-08002B2CF9AE}" pid="4" name="LastSaved">
    <vt:filetime>2019-11-25T00:00:00Z</vt:filetime>
  </property>
  <property fmtid="{D5CDD505-2E9C-101B-9397-08002B2CF9AE}" pid="5" name="Notes">
    <vt:i4>14</vt:i4>
  </property>
  <property fmtid="{D5CDD505-2E9C-101B-9397-08002B2CF9AE}" pid="6" name="PresentationFormat">
    <vt:lpwstr>Custom</vt:lpwstr>
  </property>
  <property fmtid="{D5CDD505-2E9C-101B-9397-08002B2CF9AE}" pid="7" name="Slides">
    <vt:i4>15</vt:i4>
  </property>
</Properties>
</file>