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_rels/notesSlide1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20104100" cy="11309350"/>
  <p:notesSz cx="20104100" cy="1130935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8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9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10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6B2ABA7-FEC2-4DA0-8CEE-CF57990F2A0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23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D8210E-CEAD-4D0D-9E8E-5864ECE0BC09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24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4149B4-BAEF-4399-89FD-0E744B4AF55B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25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DDB2D9-5A42-4ED7-BC4A-5E9932C49A85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26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EE3703-5345-4F81-B320-77D2927E59C1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27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F54CEE-CACE-4A97-B2E6-71A67648BAB1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28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40CA79-7D6D-4DFC-8B62-6388B3315EAD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29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61ABF2-4425-415C-B168-40DD15A1AD4D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30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F1B5F3-270C-4443-95E4-BF3DD469D627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31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F0F453-454B-4D03-B703-1598769C37C4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32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4F5869-DFC9-4996-8619-F1E17B19843E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6600" cy="423792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0480" cy="50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33"/>
          </p:nvPr>
        </p:nvSpPr>
        <p:spPr>
          <a:xfrm>
            <a:off x="11387160" y="10742760"/>
            <a:ext cx="87084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023B63-C8CA-4759-95FB-B85CB8104A8C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6BD86AA-5B2C-41B9-836B-0CF151AE845C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ubTitle"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53499C-473C-4908-B2B9-C07FFEA29E55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A63626-1526-477A-B269-80EADF74ADAB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5275774-2417-4C30-8948-8149C7501386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6C622C0-A6A1-4E6D-80F2-3D645BF71B80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3B369D8-EFD3-4CF2-AA6C-93B264BF86B0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43947A7C-C2AB-449C-8D1D-4C54FE231A2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10;p16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0200" cy="1420200"/>
          </a:xfrm>
          <a:prstGeom prst="rect">
            <a:avLst/>
          </a:prstGeom>
          <a:ln w="0">
            <a:noFill/>
          </a:ln>
        </p:spPr>
      </p:pic>
      <p:pic>
        <p:nvPicPr>
          <p:cNvPr id="1" name="Google Shape;13;p16" descr=""/>
          <p:cNvPicPr/>
          <p:nvPr/>
        </p:nvPicPr>
        <p:blipFill>
          <a:blip r:embed="rId4"/>
          <a:stretch/>
        </p:blipFill>
        <p:spPr>
          <a:xfrm>
            <a:off x="7614360" y="10400400"/>
            <a:ext cx="4870800" cy="736920"/>
          </a:xfrm>
          <a:prstGeom prst="rect">
            <a:avLst/>
          </a:prstGeom>
          <a:ln w="0">
            <a:noFill/>
          </a:ln>
        </p:spPr>
      </p:pic>
      <p:sp>
        <p:nvSpPr>
          <p:cNvPr id="2" name="Google Shape;16;p17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3" name="Google Shape;17;p17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58A21F-DB21-41A7-B042-F81FAA5C17A4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6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0200" cy="1420200"/>
          </a:xfrm>
          <a:prstGeom prst="rect">
            <a:avLst/>
          </a:prstGeom>
          <a:ln w="0">
            <a:noFill/>
          </a:ln>
        </p:spPr>
      </p:pic>
      <p:pic>
        <p:nvPicPr>
          <p:cNvPr id="10" name="Google Shape;13;p16" descr=""/>
          <p:cNvPicPr/>
          <p:nvPr/>
        </p:nvPicPr>
        <p:blipFill>
          <a:blip r:embed="rId4"/>
          <a:stretch/>
        </p:blipFill>
        <p:spPr>
          <a:xfrm>
            <a:off x="7614360" y="10400400"/>
            <a:ext cx="4870800" cy="736920"/>
          </a:xfrm>
          <a:prstGeom prst="rect">
            <a:avLst/>
          </a:prstGeom>
          <a:ln w="0">
            <a:noFill/>
          </a:ln>
        </p:spPr>
      </p:pic>
      <p:sp>
        <p:nvSpPr>
          <p:cNvPr id="11" name="Google Shape;16;p17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2" name="Google Shape;17;p17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2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375D0F-F83C-40B0-9597-400D8614BE05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005120" y="2646360"/>
            <a:ext cx="18093240" cy="655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0200" cy="1420200"/>
          </a:xfrm>
          <a:prstGeom prst="rect">
            <a:avLst/>
          </a:prstGeom>
          <a:ln w="0">
            <a:noFill/>
          </a:ln>
        </p:spPr>
      </p:pic>
      <p:pic>
        <p:nvPicPr>
          <p:cNvPr id="19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5120" cy="655560"/>
          </a:xfrm>
          <a:prstGeom prst="rect">
            <a:avLst/>
          </a:prstGeom>
          <a:ln w="0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3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1F490B-A0D5-4320-8C3D-54EC8372B710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0200" cy="1420200"/>
          </a:xfrm>
          <a:prstGeom prst="rect">
            <a:avLst/>
          </a:prstGeom>
          <a:ln w="0">
            <a:noFill/>
          </a:ln>
        </p:spPr>
      </p:pic>
      <p:pic>
        <p:nvPicPr>
          <p:cNvPr id="26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5120" cy="655560"/>
          </a:xfrm>
          <a:prstGeom prst="rect">
            <a:avLst/>
          </a:prstGeom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4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2A926B-6C76-499D-B285-7BC69AF8829A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0200" cy="1420200"/>
          </a:xfrm>
          <a:prstGeom prst="rect">
            <a:avLst/>
          </a:prstGeom>
          <a:ln w="0">
            <a:noFill/>
          </a:ln>
        </p:spPr>
      </p:pic>
      <p:pic>
        <p:nvPicPr>
          <p:cNvPr id="33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5120" cy="655560"/>
          </a:xfrm>
          <a:prstGeom prst="rect">
            <a:avLst/>
          </a:prstGeom>
          <a:ln w="0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5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ACF37C-43FF-4E9A-9B32-8FA23B60DD38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0200" cy="1420200"/>
          </a:xfrm>
          <a:prstGeom prst="rect">
            <a:avLst/>
          </a:prstGeom>
          <a:ln w="0">
            <a:noFill/>
          </a:ln>
        </p:spPr>
      </p:pic>
      <p:pic>
        <p:nvPicPr>
          <p:cNvPr id="40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5120" cy="655560"/>
          </a:xfrm>
          <a:prstGeom prst="rect">
            <a:avLst/>
          </a:prstGeom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6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F0297E-EB39-46FD-98B9-FF8CA757742D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0200" cy="1420200"/>
          </a:xfrm>
          <a:prstGeom prst="rect">
            <a:avLst/>
          </a:prstGeom>
          <a:ln w="0">
            <a:noFill/>
          </a:ln>
        </p:spPr>
      </p:pic>
      <p:pic>
        <p:nvPicPr>
          <p:cNvPr id="47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5120" cy="655560"/>
          </a:xfrm>
          <a:prstGeom prst="rect">
            <a:avLst/>
          </a:prstGeom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86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8640" cy="750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7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265B62-1847-4D04-A2F0-8EBA17CFEA36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35;p1"/>
          <p:cNvSpPr/>
          <p:nvPr/>
        </p:nvSpPr>
        <p:spPr>
          <a:xfrm>
            <a:off x="4443840" y="2008080"/>
            <a:ext cx="11212920" cy="13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6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Enhanced LongRange Location Tracking and Fall Detection System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36;p1"/>
          <p:cNvSpPr/>
          <p:nvPr/>
        </p:nvSpPr>
        <p:spPr>
          <a:xfrm>
            <a:off x="1575360" y="3254400"/>
            <a:ext cx="17013240" cy="695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1RV23MC039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RAJESHA C U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Under the Guidance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Of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                         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sldNum" idx="11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5AAD3C-6B4C-4342-89F6-40A10E4BD0D8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Google Shape;38;p1"/>
          <p:cNvSpPr/>
          <p:nvPr/>
        </p:nvSpPr>
        <p:spPr>
          <a:xfrm>
            <a:off x="4599360" y="351000"/>
            <a:ext cx="10901520" cy="13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6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Major Project – MCA491P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7315200" y="8124840"/>
            <a:ext cx="5501880" cy="31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Dr. Deepika K    Associate Professor   Department of MCA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44;p2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5" name="Google Shape;45;p2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sldNum" idx="12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AC211B-B42E-4CF1-8335-48D4E3FA3102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2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Google Shape;47;p2"/>
          <p:cNvSpPr/>
          <p:nvPr/>
        </p:nvSpPr>
        <p:spPr>
          <a:xfrm>
            <a:off x="1008000" y="2411280"/>
            <a:ext cx="18523800" cy="77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Changes suggested in Phase I and Incorporation 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Tools and Technologies Used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Hardware and Software Requirements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Functional Requirements- Module specification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Non-functional Requirements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Constraints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design- Architecture design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Design- Class Diagram, Use Case diagram, sequence diagram, activity diagram and DFD (level-0 to level-2)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Work progress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References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Google Shape;48;p2"/>
          <p:cNvSpPr/>
          <p:nvPr/>
        </p:nvSpPr>
        <p:spPr>
          <a:xfrm>
            <a:off x="5040000" y="971640"/>
            <a:ext cx="90673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Agenda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4;p5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0" name="Google Shape;65;p5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1" name="PlaceHolder 1"/>
          <p:cNvSpPr>
            <a:spLocks noGrp="1"/>
          </p:cNvSpPr>
          <p:nvPr>
            <p:ph type="sldNum" idx="13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D223E7-E188-42AC-A592-BE6DF96B2283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3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Google Shape;68;p5"/>
          <p:cNvSpPr/>
          <p:nvPr/>
        </p:nvSpPr>
        <p:spPr>
          <a:xfrm>
            <a:off x="5029200" y="735840"/>
            <a:ext cx="906696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Project based Learning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3" name="Google Shape;69;p5"/>
          <p:cNvGraphicFramePr/>
          <p:nvPr/>
        </p:nvGraphicFramePr>
        <p:xfrm>
          <a:off x="1822320" y="3885840"/>
          <a:ext cx="16458480" cy="2224800"/>
        </p:xfrm>
        <a:graphic>
          <a:graphicData uri="http://schemas.openxmlformats.org/drawingml/2006/table">
            <a:tbl>
              <a:tblPr/>
              <a:tblGrid>
                <a:gridCol w="1371600"/>
                <a:gridCol w="7619760"/>
                <a:gridCol w="7467480"/>
              </a:tblGrid>
              <a:tr h="81900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  </a:t>
                      </a: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Particulars  / Details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 </a:t>
                      </a: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Details of Implementation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7027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 </a:t>
                      </a: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Course on “React.js”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It helps to design the frontend of the web interface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703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Course on “Node.js”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It helps to build the backend of the web application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85;p7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5" name="Google Shape;86;p7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sldNum" idx="14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1BB5C3-58D4-4C94-85B7-0A2F6CD35950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4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Google Shape;89;p7"/>
          <p:cNvSpPr/>
          <p:nvPr/>
        </p:nvSpPr>
        <p:spPr>
          <a:xfrm>
            <a:off x="5057640" y="290520"/>
            <a:ext cx="906696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Methodology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8" name="Google Shape;69;p 1"/>
          <p:cNvGraphicFramePr/>
          <p:nvPr/>
        </p:nvGraphicFramePr>
        <p:xfrm>
          <a:off x="1238040" y="3067560"/>
          <a:ext cx="16458480" cy="2826000"/>
        </p:xfrm>
        <a:graphic>
          <a:graphicData uri="http://schemas.openxmlformats.org/drawingml/2006/table">
            <a:tbl>
              <a:tblPr/>
              <a:tblGrid>
                <a:gridCol w="1371600"/>
                <a:gridCol w="5378400"/>
                <a:gridCol w="970884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ESP32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Collects data from sensors; sends via MQTT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LoRa Module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Long-range wireless communication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BME280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Measures temp/humidity/pressure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GPS Module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Tracks location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" name="Google Shape;69;p 2"/>
          <p:cNvGraphicFramePr/>
          <p:nvPr/>
        </p:nvGraphicFramePr>
        <p:xfrm>
          <a:off x="1251720" y="6036480"/>
          <a:ext cx="16458480" cy="3372480"/>
        </p:xfrm>
        <a:graphic>
          <a:graphicData uri="http://schemas.openxmlformats.org/drawingml/2006/table">
            <a:tbl>
              <a:tblPr/>
              <a:tblGrid>
                <a:gridCol w="1365120"/>
                <a:gridCol w="5384880"/>
                <a:gridCol w="970884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Next.js (Frontend)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Web dashboard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MQTT Broker (Mosquitto)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Lightweight messaging protocol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PostgreSQL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Database to store sensor readings &amp; logic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Node.js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 </a:t>
                      </a: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Backend for sensor data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MicroPython / Arduino IDE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Programming ESP32 sensor logic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  <p:sp>
        <p:nvSpPr>
          <p:cNvPr id="80" name=""/>
          <p:cNvSpPr/>
          <p:nvPr/>
        </p:nvSpPr>
        <p:spPr>
          <a:xfrm>
            <a:off x="1320480" y="2081160"/>
            <a:ext cx="9422640" cy="70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IN" sz="2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Hardware and Software Requirements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75;p6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2" name="Google Shape;76;p6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sldNum" idx="15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6479BC-91CE-4957-B316-67E0CA5890B2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Google Shape;78;p6"/>
          <p:cNvSpPr/>
          <p:nvPr/>
        </p:nvSpPr>
        <p:spPr>
          <a:xfrm>
            <a:off x="995400" y="2378160"/>
            <a:ext cx="18523800" cy="60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ESP32 + LoRa enables low-power, long-range wireless communication for field-deployed sensor nodes.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MQTT ensures efficient, real-time data transfer between devices and the backend with minimal bandwidth.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PostgreSQL provides reliable storage.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Next.js delivers a fast, modern web dashboard with server-side rendering and seamless user experience.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Python allows flexible backend scripting for data processing, alert logic, and easy future enhancements.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Leaflet.js integrates interactive maps for live location tracking and visualization of all field nodes.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Arduino IDE simplifies firmware development and rapid prototyping for ESP32-based sensor nodes.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79;p6"/>
          <p:cNvSpPr/>
          <p:nvPr/>
        </p:nvSpPr>
        <p:spPr>
          <a:xfrm>
            <a:off x="5057640" y="290520"/>
            <a:ext cx="906696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Methodology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78;p 1"/>
          <p:cNvSpPr/>
          <p:nvPr/>
        </p:nvSpPr>
        <p:spPr>
          <a:xfrm>
            <a:off x="1025280" y="6143400"/>
            <a:ext cx="18523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95;p9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8" name="Google Shape;96;p9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sldNum" idx="16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4DA732-550E-4D4C-9CB2-671B0161F4CD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Google Shape;98;p9"/>
          <p:cNvSpPr/>
          <p:nvPr/>
        </p:nvSpPr>
        <p:spPr>
          <a:xfrm>
            <a:off x="1008000" y="2073240"/>
            <a:ext cx="18523800" cy="88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 Location Tracking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update and display user/node GPS location.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GPS coordinates from FieldNode device.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Receives, stores, and maps location data.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User location with timestamp shown on dashboard.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Environmental Monitoring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monitor temperature and pressure at each node.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Data from BME280 sensor.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Reads, transmits, and logs environmental data.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Temperature and pressure values with timestamp.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Energy Monitoring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track and report device battery status.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Battery voltage/current from FieldNode.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Reads, evaluates, and reports battery level.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Battery percentage and status alert if low.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Emergency Alert System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notify admin and users of emergencies.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Emergency trigger from user/device.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Broadcasts alert, logs event, notifies relevant users.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Emergency alert message with user/location info.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Google Shape;99;p9"/>
          <p:cNvSpPr/>
          <p:nvPr/>
        </p:nvSpPr>
        <p:spPr>
          <a:xfrm>
            <a:off x="5057640" y="290520"/>
            <a:ext cx="95256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Functional Requirements Specification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105;p10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3" name="Google Shape;106;p10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4" name="PlaceHolder 1"/>
          <p:cNvSpPr>
            <a:spLocks noGrp="1"/>
          </p:cNvSpPr>
          <p:nvPr>
            <p:ph type="sldNum" idx="17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CF2172D-432A-4DDC-A9CE-B9E864ED5837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7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Google Shape;109;p10"/>
          <p:cNvSpPr/>
          <p:nvPr/>
        </p:nvSpPr>
        <p:spPr>
          <a:xfrm>
            <a:off x="5057640" y="290520"/>
            <a:ext cx="106369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Non-Functional Requirements Specification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6" name="Google Shape;69;p 3"/>
          <p:cNvGraphicFramePr/>
          <p:nvPr/>
        </p:nvGraphicFramePr>
        <p:xfrm>
          <a:off x="1194840" y="2414160"/>
          <a:ext cx="17214840" cy="3109680"/>
        </p:xfrm>
        <a:graphic>
          <a:graphicData uri="http://schemas.openxmlformats.org/drawingml/2006/table">
            <a:tbl>
              <a:tblPr/>
              <a:tblGrid>
                <a:gridCol w="1417680"/>
                <a:gridCol w="5592960"/>
                <a:gridCol w="10204560"/>
              </a:tblGrid>
              <a:tr h="6775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8103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Performance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The system must process and display new location and sensor data within 5-10 seconds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8103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Compatibility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The web application must be accessible from all modern browsers and mobile devices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811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Security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User location and alert data must only be accessible to authorized users and admins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7523640" y="656280"/>
            <a:ext cx="5054040" cy="12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Arial"/>
              </a:rPr>
              <a:t>Design Constrains</a:t>
            </a:r>
            <a:br>
              <a:rPr sz="4400"/>
            </a:b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8" name="Google Shape;69;p 4"/>
          <p:cNvGraphicFramePr/>
          <p:nvPr/>
        </p:nvGraphicFramePr>
        <p:xfrm>
          <a:off x="1577520" y="2368440"/>
          <a:ext cx="17352720" cy="5742000"/>
        </p:xfrm>
        <a:graphic>
          <a:graphicData uri="http://schemas.openxmlformats.org/drawingml/2006/table">
            <a:tbl>
              <a:tblPr/>
              <a:tblGrid>
                <a:gridCol w="1439280"/>
                <a:gridCol w="3513960"/>
                <a:gridCol w="12399840"/>
              </a:tblGrid>
              <a:tr h="9565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Constraint Type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Description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Technical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LoRa communication range is limited by environmental obstacles and legal frequency restrictions; GPS accuracy may be affected by terrain and weather.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Project must be completed within the academic semester duration (4 months).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Integration and testing across hardware and software must fit into limited lab sessions.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Budget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Only low-cost, readily available components (ESP32, LoRa, BME280, GPS) are used; advanced modules or commercial IoT platforms are excluded.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7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Deployment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System is designed for local or LAN-based deployment; cloud hosting and remote access are not implemented in the initial version.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7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Environmental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Devices are tested in controlled or semi-controlled environments; harsh outdoor conditions (extreme weather) are not fully addressed in the prototype.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115;p11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0" name="Google Shape;116;p11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1" name="PlaceHolder 1"/>
          <p:cNvSpPr>
            <a:spLocks noGrp="1"/>
          </p:cNvSpPr>
          <p:nvPr>
            <p:ph type="sldNum" idx="18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7C6C01-3077-48F0-93F7-3AD98BC35DCC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9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Google Shape;119;p11"/>
          <p:cNvSpPr/>
          <p:nvPr/>
        </p:nvSpPr>
        <p:spPr>
          <a:xfrm>
            <a:off x="5057640" y="290520"/>
            <a:ext cx="906696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Google Shape;119;p 1"/>
          <p:cNvSpPr/>
          <p:nvPr/>
        </p:nvSpPr>
        <p:spPr>
          <a:xfrm>
            <a:off x="8458200" y="10335240"/>
            <a:ext cx="278316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2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Block Diagram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6708600" y="3200400"/>
            <a:ext cx="7693200" cy="5821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26;p12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6" name="Google Shape;127;p12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sldNum" idx="19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26C95E-8333-4BDE-9FAF-3CB1C0E0C38D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10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Google Shape;130;p12"/>
          <p:cNvSpPr/>
          <p:nvPr/>
        </p:nvSpPr>
        <p:spPr>
          <a:xfrm>
            <a:off x="5057640" y="290520"/>
            <a:ext cx="906696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7086600" y="10094400"/>
            <a:ext cx="5027400" cy="12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Architectural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" name="" descr=""/>
          <p:cNvPicPr/>
          <p:nvPr/>
        </p:nvPicPr>
        <p:blipFill>
          <a:blip r:embed="rId1"/>
          <a:stretch/>
        </p:blipFill>
        <p:spPr>
          <a:xfrm>
            <a:off x="6333120" y="1828800"/>
            <a:ext cx="6927840" cy="754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" descr=""/>
          <p:cNvPicPr/>
          <p:nvPr/>
        </p:nvPicPr>
        <p:blipFill>
          <a:blip r:embed="rId1"/>
          <a:stretch/>
        </p:blipFill>
        <p:spPr>
          <a:xfrm>
            <a:off x="4800600" y="2057400"/>
            <a:ext cx="10056600" cy="7656840"/>
          </a:xfrm>
          <a:prstGeom prst="rect">
            <a:avLst/>
          </a:prstGeom>
          <a:ln w="0">
            <a:noFill/>
          </a:ln>
        </p:spPr>
      </p:pic>
      <p:sp>
        <p:nvSpPr>
          <p:cNvPr id="112" name=""/>
          <p:cNvSpPr/>
          <p:nvPr/>
        </p:nvSpPr>
        <p:spPr>
          <a:xfrm>
            <a:off x="8015400" y="10287000"/>
            <a:ext cx="455760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Use Case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7543800" y="685800"/>
            <a:ext cx="4572000" cy="70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" descr=""/>
          <p:cNvPicPr/>
          <p:nvPr/>
        </p:nvPicPr>
        <p:blipFill>
          <a:blip r:embed="rId1"/>
          <a:stretch/>
        </p:blipFill>
        <p:spPr>
          <a:xfrm>
            <a:off x="2632680" y="1324080"/>
            <a:ext cx="13596120" cy="8732520"/>
          </a:xfrm>
          <a:prstGeom prst="rect">
            <a:avLst/>
          </a:prstGeom>
          <a:ln w="0">
            <a:noFill/>
          </a:ln>
        </p:spPr>
      </p:pic>
      <p:sp>
        <p:nvSpPr>
          <p:cNvPr id="115" name=""/>
          <p:cNvSpPr/>
          <p:nvPr/>
        </p:nvSpPr>
        <p:spPr>
          <a:xfrm>
            <a:off x="7772400" y="10287000"/>
            <a:ext cx="43430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Sequence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7772400" y="10092960"/>
            <a:ext cx="386712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Class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" name="" descr=""/>
          <p:cNvPicPr/>
          <p:nvPr/>
        </p:nvPicPr>
        <p:blipFill>
          <a:blip r:embed="rId1"/>
          <a:stretch/>
        </p:blipFill>
        <p:spPr>
          <a:xfrm>
            <a:off x="5913360" y="2057400"/>
            <a:ext cx="7802640" cy="7802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>
            <a:off x="8160840" y="10272240"/>
            <a:ext cx="441216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Activity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" descr=""/>
          <p:cNvPicPr/>
          <p:nvPr/>
        </p:nvPicPr>
        <p:blipFill>
          <a:blip r:embed="rId1"/>
          <a:stretch/>
        </p:blipFill>
        <p:spPr>
          <a:xfrm>
            <a:off x="4386960" y="1509120"/>
            <a:ext cx="9786240" cy="8320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47;g3616559daea_0_0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21" name="Google Shape;148;g3616559daea_0_0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sldNum" idx="20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438794-E7AC-4FBB-ABE8-67DED4C739EC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Google Shape;151;g3616559daea_0_0"/>
          <p:cNvSpPr/>
          <p:nvPr/>
        </p:nvSpPr>
        <p:spPr>
          <a:xfrm>
            <a:off x="5057640" y="290520"/>
            <a:ext cx="90673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7511400" y="8595720"/>
            <a:ext cx="323568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DFD – Level0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" name="" descr=""/>
          <p:cNvPicPr/>
          <p:nvPr/>
        </p:nvPicPr>
        <p:blipFill>
          <a:blip r:embed="rId1"/>
          <a:stretch/>
        </p:blipFill>
        <p:spPr>
          <a:xfrm>
            <a:off x="3711600" y="3186000"/>
            <a:ext cx="11911320" cy="4639680"/>
          </a:xfrm>
          <a:prstGeom prst="rect">
            <a:avLst/>
          </a:prstGeom>
          <a:ln w="0">
            <a:noFill/>
          </a:ln>
        </p:spPr>
      </p:pic>
      <p:sp>
        <p:nvSpPr>
          <p:cNvPr id="126" name=""/>
          <p:cNvSpPr/>
          <p:nvPr/>
        </p:nvSpPr>
        <p:spPr>
          <a:xfrm>
            <a:off x="15278760" y="8458200"/>
            <a:ext cx="43790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DS1- store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DS2-retrive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4401360" y="2286000"/>
            <a:ext cx="10698120" cy="7530840"/>
          </a:xfrm>
          <a:prstGeom prst="rect">
            <a:avLst/>
          </a:prstGeom>
          <a:ln w="0">
            <a:noFill/>
          </a:ln>
        </p:spPr>
      </p:pic>
      <p:sp>
        <p:nvSpPr>
          <p:cNvPr id="128" name=""/>
          <p:cNvSpPr/>
          <p:nvPr/>
        </p:nvSpPr>
        <p:spPr>
          <a:xfrm>
            <a:off x="8121240" y="10092240"/>
            <a:ext cx="376596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DFD – Level 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16002000" y="9601200"/>
            <a:ext cx="3573000" cy="7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DS1- retrive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DS2-store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" descr=""/>
          <p:cNvPicPr/>
          <p:nvPr/>
        </p:nvPicPr>
        <p:blipFill>
          <a:blip r:embed="rId1"/>
          <a:stretch/>
        </p:blipFill>
        <p:spPr>
          <a:xfrm>
            <a:off x="3082680" y="1932480"/>
            <a:ext cx="13374720" cy="7997400"/>
          </a:xfrm>
          <a:prstGeom prst="rect">
            <a:avLst/>
          </a:prstGeom>
          <a:ln w="0">
            <a:noFill/>
          </a:ln>
        </p:spPr>
      </p:pic>
      <p:sp>
        <p:nvSpPr>
          <p:cNvPr id="131" name=""/>
          <p:cNvSpPr/>
          <p:nvPr/>
        </p:nvSpPr>
        <p:spPr>
          <a:xfrm>
            <a:off x="9340200" y="10396800"/>
            <a:ext cx="323568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DFD – Level2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15856200" y="9931680"/>
            <a:ext cx="3573000" cy="7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DS1- retrieve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DS2-Store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57;p14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34" name="Google Shape;158;p14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sldNum" idx="21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2218A1-855C-41D6-9F93-679358512084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18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Google Shape;161;p14"/>
          <p:cNvSpPr/>
          <p:nvPr/>
        </p:nvSpPr>
        <p:spPr>
          <a:xfrm>
            <a:off x="5057640" y="290520"/>
            <a:ext cx="906696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Work Progress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554400" y="2341440"/>
            <a:ext cx="18659880" cy="788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1" lang="en-US" sz="26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Work completed so far: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Design and selection of all hardware components (ESP32, LoRa, GPS, BMP180, Li-ion battery)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Initial web dashboard for location display and alert visualization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1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Plan for Further Work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Complete physical assembly and wiring of ESP32+LoRa+GPS+BME280 hardware nodes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Integrate battery monitoring and test power management features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Finalize and test real-time data transmission from hardware to backend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Enhance dashboard with  data visualization and advanced filtering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Conduct field deployment and calibration of all sensors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67;p15"/>
          <p:cNvSpPr/>
          <p:nvPr/>
        </p:nvSpPr>
        <p:spPr>
          <a:xfrm>
            <a:off x="2982960" y="712800"/>
            <a:ext cx="53280" cy="53280"/>
          </a:xfrm>
          <a:custGeom>
            <a:avLst/>
            <a:gdLst>
              <a:gd name="textAreaLeft" fmla="*/ 0 w 53280"/>
              <a:gd name="textAreaRight" fmla="*/ 57240 w 53280"/>
              <a:gd name="textAreaTop" fmla="*/ 0 h 53280"/>
              <a:gd name="textAreaBottom" fmla="*/ 57240 h 5328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39" name="Google Shape;168;p15"/>
          <p:cNvSpPr/>
          <p:nvPr/>
        </p:nvSpPr>
        <p:spPr>
          <a:xfrm>
            <a:off x="2998800" y="725400"/>
            <a:ext cx="21600" cy="27720"/>
          </a:xfrm>
          <a:custGeom>
            <a:avLst/>
            <a:gdLst>
              <a:gd name="textAreaLeft" fmla="*/ 0 w 21600"/>
              <a:gd name="textAreaRight" fmla="*/ 25560 w 21600"/>
              <a:gd name="textAreaTop" fmla="*/ 0 h 27720"/>
              <a:gd name="textAreaBottom" fmla="*/ 31680 h 2772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sldNum" idx="22"/>
          </p:nvPr>
        </p:nvSpPr>
        <p:spPr>
          <a:xfrm>
            <a:off x="18627840" y="10253160"/>
            <a:ext cx="12013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B8BD2E-E5E8-48A6-839F-497A8B69B25C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19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Google Shape;171;p15"/>
          <p:cNvSpPr/>
          <p:nvPr/>
        </p:nvSpPr>
        <p:spPr>
          <a:xfrm>
            <a:off x="905040" y="2229840"/>
            <a:ext cx="18523800" cy="90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1] C. Wu et al., "Ultra-Low-Power LoRa Mesh Networks for Wilderness Tracking," IEEE Transactions on Wireless Communications, vol. 24, no. 3, pp. 45-58, 2025.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[2] A. Khan and B. Li, "Adaptive GPS-LoRa Hybrid Positioning for Remote Areas," IEEE Internet of Things Journal, vol. 12, no. 1, pp. 112-125, 2024.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[3] E. Rodriguez et al., "Energy-Efficient Emergency Alert Systems Using ESP32," IEEE Sensors Journal, vol. 23, no. 8, pp. 210-223, 2024.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[4] G. Park and H. Kim, "Decentralized Tracking in Mountainous Terrain: A LoRa Case Study," IEEE Communications Letters, vol. 27, no. 5, pp. 78-91, 2023.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[5] I. Petrov and J. Silva, "Edge Computing for Real-Time Wilderness Safety Monitoring," IEEE Access, vol. 11, pp. 345-360, 2023.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[6] M. Tanaka and S. Chen, "Battery Optimization Techniques for IoT Tracking Devices," IEEE Transactions on Power Electronics, vol. 38, no. 4, pp. 201-215,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[7] R. Kumar and P. Sharma, "LoRa-Based Communication Challenges in Himalayan Regions," IEEE Wireless Communications Letters, vol. 10, no. 6, pp. 132-145,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[8] S. Desai and L. Prakash, "Comparative Analysis of Trekker Safety Systems," IEEE Consumer Electronics Magazine, vol. 11, no. 2, pp. 67-79,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[9] T. Nguyen and V. Patel, "Low-Power Sensor Fusion for Wilderness Tracking," IEEE Sensors Journal, vol. 21, no. 9, pp. 89-102, 2021.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[10] W. Zhang and X. Liu, "IoT Architectures for Remote Area Monitoring," IEEE Internet of Things Journal, vol. 8, no. 5, pp. 156-170, 2021.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Google Shape;172;p15"/>
          <p:cNvSpPr/>
          <p:nvPr/>
        </p:nvSpPr>
        <p:spPr>
          <a:xfrm>
            <a:off x="5057640" y="290520"/>
            <a:ext cx="906696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References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1835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2019-11-25T06:56:12Z</dcterms:created>
  <dc:creator>Srobona Das</dc:creator>
  <dc:description/>
  <dc:language>en-US</dc:language>
  <cp:lastModifiedBy/>
  <dcterms:modified xsi:type="dcterms:W3CDTF">2025-06-18T13:19:57Z</dcterms:modified>
  <cp:revision>153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2019-11-25T00:00:00Z</vt:filetime>
  </property>
  <property fmtid="{D5CDD505-2E9C-101B-9397-08002B2CF9AE}" pid="3" name="Creator">
    <vt:lpwstr>Adobe Illustrator CC 23.1 (Macintosh)</vt:lpwstr>
  </property>
  <property fmtid="{D5CDD505-2E9C-101B-9397-08002B2CF9AE}" pid="4" name="LastSaved">
    <vt:filetime>2019-11-25T00:00:00Z</vt:filetime>
  </property>
  <property fmtid="{D5CDD505-2E9C-101B-9397-08002B2CF9AE}" pid="5" name="Notes">
    <vt:r8>14</vt:r8>
  </property>
  <property fmtid="{D5CDD505-2E9C-101B-9397-08002B2CF9AE}" pid="6" name="PresentationFormat">
    <vt:lpwstr>Custom</vt:lpwstr>
  </property>
  <property fmtid="{D5CDD505-2E9C-101B-9397-08002B2CF9AE}" pid="7" name="Slides">
    <vt:r8>15</vt:r8>
  </property>
</Properties>
</file>