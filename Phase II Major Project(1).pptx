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_rels/notesSlide1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20104100" cy="11309350"/>
  <p:notesSz cx="20104100" cy="1130935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8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9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10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38975A9-EA23-4664-BE2F-C6EC016C868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23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494AD6-A120-4EB0-9705-70C4C22B58E4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24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2825EE-104F-4384-844B-674795ABAB40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25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203D49-6310-452A-9AAF-EDE38761806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26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5B865D-04FC-47F7-9BDD-D8839B4E8BA5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27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8137C6-F2FA-452E-B144-8BFC6CE3B4D3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28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9E6523-19CA-4EEB-B789-099C482EB304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29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C1AFC1-D552-4A4D-AFED-F03A5847564C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30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50F77E-578C-4384-B8D4-FA9E037B3B5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19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31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58864C-FCD7-41B5-A1F3-F25253D2ADDC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32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A82331-4238-4494-A623-EB4459FB47F2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5520" cy="423684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79400" cy="50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33"/>
          </p:nvPr>
        </p:nvSpPr>
        <p:spPr>
          <a:xfrm>
            <a:off x="11387160" y="10742760"/>
            <a:ext cx="87073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85DCDC-F33B-41FB-B1C8-D6203209A5D8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CDCC1F9-DFCF-4CF5-8623-EF95DB04604F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ubTitle"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57C536-5062-478C-9AD0-19F8E6247BF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ECA3A96-6CFD-4C36-B8A6-F3030E0919DE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1E538FF-6314-4259-BC6C-2E1256921AC9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36C9E9-DC59-4268-A65F-227117B62748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7E4765E-E8B2-47C2-85BF-2160943BCE80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7924475-AA1D-442B-8EBB-202EE5DDD44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10;p16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09120" cy="1419120"/>
          </a:xfrm>
          <a:prstGeom prst="rect">
            <a:avLst/>
          </a:prstGeom>
          <a:ln w="0">
            <a:noFill/>
          </a:ln>
        </p:spPr>
      </p:pic>
      <p:pic>
        <p:nvPicPr>
          <p:cNvPr id="1" name="Google Shape;13;p16" descr=""/>
          <p:cNvPicPr/>
          <p:nvPr/>
        </p:nvPicPr>
        <p:blipFill>
          <a:blip r:embed="rId4"/>
          <a:stretch/>
        </p:blipFill>
        <p:spPr>
          <a:xfrm>
            <a:off x="7614360" y="10400400"/>
            <a:ext cx="4869720" cy="735840"/>
          </a:xfrm>
          <a:prstGeom prst="rect">
            <a:avLst/>
          </a:prstGeom>
          <a:ln w="0">
            <a:noFill/>
          </a:ln>
        </p:spPr>
      </p:pic>
      <p:sp>
        <p:nvSpPr>
          <p:cNvPr id="2" name="Google Shape;16;p17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" name="Google Shape;17;p17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6A60B8-7B86-44B2-917C-EF9CCDE76F7F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6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09120" cy="1419120"/>
          </a:xfrm>
          <a:prstGeom prst="rect">
            <a:avLst/>
          </a:prstGeom>
          <a:ln w="0">
            <a:noFill/>
          </a:ln>
        </p:spPr>
      </p:pic>
      <p:pic>
        <p:nvPicPr>
          <p:cNvPr id="10" name="Google Shape;13;p16" descr=""/>
          <p:cNvPicPr/>
          <p:nvPr/>
        </p:nvPicPr>
        <p:blipFill>
          <a:blip r:embed="rId4"/>
          <a:stretch/>
        </p:blipFill>
        <p:spPr>
          <a:xfrm>
            <a:off x="7614360" y="10400400"/>
            <a:ext cx="4869720" cy="735840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16;p17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2" name="Google Shape;17;p17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2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800FAA-0969-402A-A51F-5D34F488A69B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005120" y="2646360"/>
            <a:ext cx="18093240" cy="655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09120" cy="1419120"/>
          </a:xfrm>
          <a:prstGeom prst="rect">
            <a:avLst/>
          </a:prstGeom>
          <a:ln w="0">
            <a:noFill/>
          </a:ln>
        </p:spPr>
      </p:pic>
      <p:pic>
        <p:nvPicPr>
          <p:cNvPr id="19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4040" cy="654480"/>
          </a:xfrm>
          <a:prstGeom prst="rect">
            <a:avLst/>
          </a:prstGeom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3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46844D-FC60-4E16-BAAA-A89CABEF948E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09120" cy="1419120"/>
          </a:xfrm>
          <a:prstGeom prst="rect">
            <a:avLst/>
          </a:prstGeom>
          <a:ln w="0">
            <a:noFill/>
          </a:ln>
        </p:spPr>
      </p:pic>
      <p:pic>
        <p:nvPicPr>
          <p:cNvPr id="26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4040" cy="654480"/>
          </a:xfrm>
          <a:prstGeom prst="rect">
            <a:avLst/>
          </a:prstGeom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4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F07BE0-FD9E-4C74-8B6D-D7EF018BFA5B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09120" cy="1419120"/>
          </a:xfrm>
          <a:prstGeom prst="rect">
            <a:avLst/>
          </a:prstGeom>
          <a:ln w="0">
            <a:noFill/>
          </a:ln>
        </p:spPr>
      </p:pic>
      <p:pic>
        <p:nvPicPr>
          <p:cNvPr id="33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4040" cy="654480"/>
          </a:xfrm>
          <a:prstGeom prst="rect">
            <a:avLst/>
          </a:prstGeom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5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3EBBBB-0280-4E83-B9B8-8C042FC2334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09120" cy="1419120"/>
          </a:xfrm>
          <a:prstGeom prst="rect">
            <a:avLst/>
          </a:prstGeom>
          <a:ln w="0">
            <a:noFill/>
          </a:ln>
        </p:spPr>
      </p:pic>
      <p:pic>
        <p:nvPicPr>
          <p:cNvPr id="40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4040" cy="654480"/>
          </a:xfrm>
          <a:prstGeom prst="rect">
            <a:avLst/>
          </a:prstGeom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6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92F63A-A4BB-43E6-9263-2BC76EB0C82D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09120" cy="1419120"/>
          </a:xfrm>
          <a:prstGeom prst="rect">
            <a:avLst/>
          </a:prstGeom>
          <a:ln w="0">
            <a:noFill/>
          </a:ln>
        </p:spPr>
      </p:pic>
      <p:pic>
        <p:nvPicPr>
          <p:cNvPr id="47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4040" cy="654480"/>
          </a:xfrm>
          <a:prstGeom prst="rect">
            <a:avLst/>
          </a:prstGeom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275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27560" cy="750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7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1D5638-9F50-4D57-B071-30A8AB99147A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35;p1"/>
          <p:cNvSpPr/>
          <p:nvPr/>
        </p:nvSpPr>
        <p:spPr>
          <a:xfrm>
            <a:off x="4443840" y="2008080"/>
            <a:ext cx="11211840" cy="13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Enhanced LongRange Location Tracking and Fall Detection System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36;p1"/>
          <p:cNvSpPr/>
          <p:nvPr/>
        </p:nvSpPr>
        <p:spPr>
          <a:xfrm>
            <a:off x="1575360" y="3254400"/>
            <a:ext cx="17012160" cy="69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1RV23MC039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RAJESHA C U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Under the Guidance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              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sldNum" idx="11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7BE293-99B3-48DF-8100-31F0EFB83668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Google Shape;38;p1"/>
          <p:cNvSpPr/>
          <p:nvPr/>
        </p:nvSpPr>
        <p:spPr>
          <a:xfrm>
            <a:off x="4599360" y="351000"/>
            <a:ext cx="10900440" cy="13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Major Project – MCA491P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7315200" y="8124840"/>
            <a:ext cx="5500800" cy="31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Dr. Deepika K    Associate Professor   Department of MCA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44;p2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5" name="Google Shape;45;p2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sldNum" idx="12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02B047-1CA5-4B17-B90B-475987C5BC7B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2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Google Shape;47;p2"/>
          <p:cNvSpPr/>
          <p:nvPr/>
        </p:nvSpPr>
        <p:spPr>
          <a:xfrm>
            <a:off x="1008000" y="2411280"/>
            <a:ext cx="18522720" cy="77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Changes suggested in Phase I and Incorporation 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Tools and Technologies Used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Hardware and Software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Requirements- Module specification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Constraints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design- Architecture design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Design- Class Diagram, Use Case diagram, sequence diagram, activity diagram and DFD (level-0 to level-2)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Google Shape;48;p2"/>
          <p:cNvSpPr/>
          <p:nvPr/>
        </p:nvSpPr>
        <p:spPr>
          <a:xfrm>
            <a:off x="5040000" y="971640"/>
            <a:ext cx="906624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Agenda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4;p5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0" name="Google Shape;65;p5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sldNum" idx="13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9203FC-8159-41F7-AA13-5E822C0B485E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3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Google Shape;68;p5"/>
          <p:cNvSpPr/>
          <p:nvPr/>
        </p:nvSpPr>
        <p:spPr>
          <a:xfrm>
            <a:off x="5029200" y="735840"/>
            <a:ext cx="90658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Project based Learning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3" name="Google Shape;69;p5"/>
          <p:cNvGraphicFramePr/>
          <p:nvPr/>
        </p:nvGraphicFramePr>
        <p:xfrm>
          <a:off x="1822320" y="3885840"/>
          <a:ext cx="16458480" cy="2224800"/>
        </p:xfrm>
        <a:graphic>
          <a:graphicData uri="http://schemas.openxmlformats.org/drawingml/2006/table">
            <a:tbl>
              <a:tblPr/>
              <a:tblGrid>
                <a:gridCol w="1371600"/>
                <a:gridCol w="7619760"/>
                <a:gridCol w="7467480"/>
              </a:tblGrid>
              <a:tr h="81900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Particulars  / Details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Details of Implementation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702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Course on “React.js”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It helps to design the frontend of the web interface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703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Course on “Node.js”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It helps to build the backend of the web application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85;p7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5" name="Google Shape;86;p7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sldNum" idx="14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4C8A38-FE96-47A2-AD15-1D7079987D2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4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Google Shape;89;p7"/>
          <p:cNvSpPr/>
          <p:nvPr/>
        </p:nvSpPr>
        <p:spPr>
          <a:xfrm>
            <a:off x="5057640" y="290520"/>
            <a:ext cx="90658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8" name="Google Shape;69;p 1"/>
          <p:cNvGraphicFramePr/>
          <p:nvPr/>
        </p:nvGraphicFramePr>
        <p:xfrm>
          <a:off x="1238040" y="3067560"/>
          <a:ext cx="16458480" cy="2826000"/>
        </p:xfrm>
        <a:graphic>
          <a:graphicData uri="http://schemas.openxmlformats.org/drawingml/2006/table">
            <a:tbl>
              <a:tblPr/>
              <a:tblGrid>
                <a:gridCol w="1371600"/>
                <a:gridCol w="537840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ESP32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Collects data from sensors; sends via MQTT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LoRa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Long-range wireless communication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BME280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Measures temp/humidity/pressure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GPS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Tracks location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" name="Google Shape;69;p 2"/>
          <p:cNvGraphicFramePr/>
          <p:nvPr/>
        </p:nvGraphicFramePr>
        <p:xfrm>
          <a:off x="1251720" y="6036480"/>
          <a:ext cx="16458480" cy="3372480"/>
        </p:xfrm>
        <a:graphic>
          <a:graphicData uri="http://schemas.openxmlformats.org/drawingml/2006/table">
            <a:tbl>
              <a:tblPr/>
              <a:tblGrid>
                <a:gridCol w="1365120"/>
                <a:gridCol w="538488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Next.js (Frontend)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Web dashboard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MQTT Broker (Mosquitto)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Lightweight messaging protocol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PostgreSQL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Database to store sensor readings &amp;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Node.js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 </a:t>
                      </a: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Backend for sensor data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MicroPython / Arduino IDE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Programming ESP32 sensor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  <p:sp>
        <p:nvSpPr>
          <p:cNvPr id="80" name=""/>
          <p:cNvSpPr/>
          <p:nvPr/>
        </p:nvSpPr>
        <p:spPr>
          <a:xfrm>
            <a:off x="1320480" y="2081160"/>
            <a:ext cx="942156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IN" sz="26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Hardware and Software Requirements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75;p6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2" name="Google Shape;76;p6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15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DEB554-C153-4C15-8984-B2A92CC58D4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Google Shape;78;p6"/>
          <p:cNvSpPr/>
          <p:nvPr/>
        </p:nvSpPr>
        <p:spPr>
          <a:xfrm>
            <a:off x="995400" y="2378160"/>
            <a:ext cx="18522720" cy="51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ESP32 + LoRa enables low-power, long-range wireless communication for field-deployed sensor nodes.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MQTT ensures efficient, real-time data transfer between devices and the backend with minimal bandwidth.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PostgreSQL provides reliable storage.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Next.js delivers a fast, modern web dashboard with server-side rendering and seamless user experience.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Leaflet.js integrates interactive maps for live location tracking and visualization of all field nodes.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Arial"/>
              </a:rPr>
              <a:t>Arduino IDE simplifies firmware development and rapid prototyping for ESP32-based sensor nodes.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79;p6"/>
          <p:cNvSpPr/>
          <p:nvPr/>
        </p:nvSpPr>
        <p:spPr>
          <a:xfrm>
            <a:off x="5057640" y="290520"/>
            <a:ext cx="90658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78;p 1"/>
          <p:cNvSpPr/>
          <p:nvPr/>
        </p:nvSpPr>
        <p:spPr>
          <a:xfrm>
            <a:off x="1025280" y="6143400"/>
            <a:ext cx="18522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95;p9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8" name="Google Shape;96;p9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sldNum" idx="16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7A6E44-E22B-4A55-9BA6-D00FBCE34741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Google Shape;98;p9"/>
          <p:cNvSpPr/>
          <p:nvPr/>
        </p:nvSpPr>
        <p:spPr>
          <a:xfrm>
            <a:off x="1008000" y="2073240"/>
            <a:ext cx="18522720" cy="88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 Location Tracking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update and display user/node GPS location.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GPS coordinates from FieldNode 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Receives, stores, and maps location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User location with timestamp shown on dashboard.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Environmental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monitor temperature and pressure at each 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Data from BME280 sensor.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transmits, and logs environmental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Temperature and pressure values with timestamp.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Energy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track and report device battery status.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Battery voltage/current from FieldNode.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evaluates, and reports battery level.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Battery percentage and status alert if low.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Emergency Alert System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notify admin and users of emergencies.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Emergency trigger from user/device.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Broadcasts alert, logs event, notifies relevant users.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Emergency alert message with user/location info.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Google Shape;99;p9"/>
          <p:cNvSpPr/>
          <p:nvPr/>
        </p:nvSpPr>
        <p:spPr>
          <a:xfrm>
            <a:off x="5057640" y="290520"/>
            <a:ext cx="952452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105;p10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3" name="Google Shape;106;p10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sldNum" idx="17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F702FA-8AD6-49C5-8F6C-0B756B2DCAE5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7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Google Shape;109;p10"/>
          <p:cNvSpPr/>
          <p:nvPr/>
        </p:nvSpPr>
        <p:spPr>
          <a:xfrm>
            <a:off x="5057640" y="290520"/>
            <a:ext cx="1063584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" name="Google Shape;69;p 3"/>
          <p:cNvGraphicFramePr/>
          <p:nvPr/>
        </p:nvGraphicFramePr>
        <p:xfrm>
          <a:off x="1194840" y="2414160"/>
          <a:ext cx="17214840" cy="3109680"/>
        </p:xfrm>
        <a:graphic>
          <a:graphicData uri="http://schemas.openxmlformats.org/drawingml/2006/table">
            <a:tbl>
              <a:tblPr/>
              <a:tblGrid>
                <a:gridCol w="1417680"/>
                <a:gridCol w="5592960"/>
                <a:gridCol w="10204560"/>
              </a:tblGrid>
              <a:tr h="6775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8103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Performance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The system must process and display new location and sensor data within 5-10 seconds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8103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Compatibility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The web application must be accessible from all modern browsers and mobile devices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811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Security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User location and alert data must only be accessible to authorized users and admins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7523640" y="656280"/>
            <a:ext cx="5052960" cy="125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Arial"/>
              </a:rPr>
              <a:t>Design Constrains</a:t>
            </a:r>
            <a:br>
              <a:rPr sz="4400"/>
            </a:b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8" name="Google Shape;69;p 4"/>
          <p:cNvGraphicFramePr/>
          <p:nvPr/>
        </p:nvGraphicFramePr>
        <p:xfrm>
          <a:off x="1577520" y="2368440"/>
          <a:ext cx="17352720" cy="3827520"/>
        </p:xfrm>
        <a:graphic>
          <a:graphicData uri="http://schemas.openxmlformats.org/drawingml/2006/table">
            <a:tbl>
              <a:tblPr/>
              <a:tblGrid>
                <a:gridCol w="1439280"/>
                <a:gridCol w="3513960"/>
                <a:gridCol w="12399840"/>
              </a:tblGrid>
              <a:tr h="9565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Constraint Type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Description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Technical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LoRa communication range is limited by environmental obstacles and legal frequency restrictions; GPS accuracy may be affected by terrain and weather.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Project must be completed within the academic semester duration (4 months).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Integration and testing across hardware and software must fit into limited lab sessions.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7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Environmental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Devices are tested in controlled or semi-controlled environments; harsh outdoor conditions (extreme weather) are not fully addressed in the prototype.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115;p11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0" name="Google Shape;116;p11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sldNum" idx="18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D0311E-E008-4746-8CA8-F43EB1583824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9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Google Shape;119;p11"/>
          <p:cNvSpPr/>
          <p:nvPr/>
        </p:nvSpPr>
        <p:spPr>
          <a:xfrm>
            <a:off x="5057640" y="290520"/>
            <a:ext cx="90658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Google Shape;119;p 1"/>
          <p:cNvSpPr/>
          <p:nvPr/>
        </p:nvSpPr>
        <p:spPr>
          <a:xfrm>
            <a:off x="9144000" y="10337400"/>
            <a:ext cx="27820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2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Block Diagram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6708600" y="3200400"/>
            <a:ext cx="7692120" cy="5820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26;p12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6" name="Google Shape;127;p12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sldNum" idx="19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4F4A0B-0592-46BB-BAD9-867FC515CDC1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10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Google Shape;130;p12"/>
          <p:cNvSpPr/>
          <p:nvPr/>
        </p:nvSpPr>
        <p:spPr>
          <a:xfrm>
            <a:off x="5057640" y="290520"/>
            <a:ext cx="90658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086600" y="10094400"/>
            <a:ext cx="5026320" cy="12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Architectural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" descr=""/>
          <p:cNvPicPr/>
          <p:nvPr/>
        </p:nvPicPr>
        <p:blipFill>
          <a:blip r:embed="rId1"/>
          <a:stretch/>
        </p:blipFill>
        <p:spPr>
          <a:xfrm>
            <a:off x="6333120" y="1828800"/>
            <a:ext cx="6926760" cy="754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4800600" y="2057400"/>
            <a:ext cx="10055520" cy="7655760"/>
          </a:xfrm>
          <a:prstGeom prst="rect">
            <a:avLst/>
          </a:prstGeom>
          <a:ln w="0">
            <a:noFill/>
          </a:ln>
        </p:spPr>
      </p:pic>
      <p:sp>
        <p:nvSpPr>
          <p:cNvPr id="112" name=""/>
          <p:cNvSpPr/>
          <p:nvPr/>
        </p:nvSpPr>
        <p:spPr>
          <a:xfrm>
            <a:off x="8015400" y="10287000"/>
            <a:ext cx="4556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Use Case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7543800" y="685800"/>
            <a:ext cx="457092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" descr=""/>
          <p:cNvPicPr/>
          <p:nvPr/>
        </p:nvPicPr>
        <p:blipFill>
          <a:blip r:embed="rId1"/>
          <a:stretch/>
        </p:blipFill>
        <p:spPr>
          <a:xfrm>
            <a:off x="2632680" y="1324080"/>
            <a:ext cx="13595040" cy="8731440"/>
          </a:xfrm>
          <a:prstGeom prst="rect">
            <a:avLst/>
          </a:prstGeom>
          <a:ln w="0">
            <a:noFill/>
          </a:ln>
        </p:spPr>
      </p:pic>
      <p:sp>
        <p:nvSpPr>
          <p:cNvPr id="115" name=""/>
          <p:cNvSpPr/>
          <p:nvPr/>
        </p:nvSpPr>
        <p:spPr>
          <a:xfrm>
            <a:off x="7772400" y="10287000"/>
            <a:ext cx="4341960" cy="65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Sequence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7772400" y="10092960"/>
            <a:ext cx="3866040" cy="65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Class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1"/>
          <a:stretch/>
        </p:blipFill>
        <p:spPr>
          <a:xfrm>
            <a:off x="5913360" y="2057400"/>
            <a:ext cx="7801560" cy="780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>
            <a:off x="8160840" y="10272240"/>
            <a:ext cx="441108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Activity diagram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1"/>
          <a:stretch/>
        </p:blipFill>
        <p:spPr>
          <a:xfrm>
            <a:off x="4386960" y="1509120"/>
            <a:ext cx="9785160" cy="831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47;g3616559daea_0_0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21" name="Google Shape;148;g3616559daea_0_0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sldNum" idx="20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FE205A-6B0F-4DFD-9F48-8351EB4389E0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Google Shape;151;g3616559daea_0_0"/>
          <p:cNvSpPr/>
          <p:nvPr/>
        </p:nvSpPr>
        <p:spPr>
          <a:xfrm>
            <a:off x="5057640" y="290520"/>
            <a:ext cx="906624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7511400" y="8595720"/>
            <a:ext cx="323460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Level0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13716000" y="8686800"/>
            <a:ext cx="5714280" cy="13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DS1- User data,Location history,Alert record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DS2-User data,Location history,Alert record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3726360" y="2743200"/>
            <a:ext cx="12610440" cy="491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4389840" y="2070720"/>
            <a:ext cx="10697040" cy="7529760"/>
          </a:xfrm>
          <a:prstGeom prst="rect">
            <a:avLst/>
          </a:prstGeom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8121240" y="10092240"/>
            <a:ext cx="376488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 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3258800" y="9750960"/>
            <a:ext cx="6135840" cy="11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DS1- User data,Location history,Alert record,Environmental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DS2-User data,Location history,Alert record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" descr=""/>
          <p:cNvPicPr/>
          <p:nvPr/>
        </p:nvPicPr>
        <p:blipFill>
          <a:blip r:embed="rId1"/>
          <a:stretch/>
        </p:blipFill>
        <p:spPr>
          <a:xfrm>
            <a:off x="3082680" y="1932480"/>
            <a:ext cx="13373640" cy="7996320"/>
          </a:xfrm>
          <a:prstGeom prst="rect">
            <a:avLst/>
          </a:prstGeom>
          <a:ln w="0">
            <a:noFill/>
          </a:ln>
        </p:spPr>
      </p:pic>
      <p:sp>
        <p:nvSpPr>
          <p:cNvPr id="131" name=""/>
          <p:cNvSpPr/>
          <p:nvPr/>
        </p:nvSpPr>
        <p:spPr>
          <a:xfrm>
            <a:off x="9340200" y="10396800"/>
            <a:ext cx="323460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15856200" y="9931680"/>
            <a:ext cx="3571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DS1- retrieve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DS2-Store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57;p14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4" name="Google Shape;158;p14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sldNum" idx="21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F3E73C-6929-4005-A0BB-2402730E3E10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18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Google Shape;161;p14"/>
          <p:cNvSpPr/>
          <p:nvPr/>
        </p:nvSpPr>
        <p:spPr>
          <a:xfrm>
            <a:off x="5057640" y="290520"/>
            <a:ext cx="90658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554400" y="2341440"/>
            <a:ext cx="18658800" cy="788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1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Work completed so far: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Design and selection of all hardware components (ESP32, LoRa, GPS, BMP180, Li-ion battery)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Initial web dashboard for location display and alert visualization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1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Plan for Further Work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Complete physical assembly and wiring of ESP32+LoRa+GPS+BME280 hardware nodes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Integrate battery monitoring and test power management features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Finalize and test real-time data transmission from hardware to backend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Enhance dashboard with  data visualization and advanced filtering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Noto Sans CJK SC"/>
              </a:rPr>
              <a:t>Conduct field deployment and calibration of all sensors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67;p15"/>
          <p:cNvSpPr/>
          <p:nvPr/>
        </p:nvSpPr>
        <p:spPr>
          <a:xfrm>
            <a:off x="2982960" y="712800"/>
            <a:ext cx="52200" cy="52200"/>
          </a:xfrm>
          <a:custGeom>
            <a:avLst/>
            <a:gdLst>
              <a:gd name="textAreaLeft" fmla="*/ 0 w 52200"/>
              <a:gd name="textAreaRight" fmla="*/ 57240 w 52200"/>
              <a:gd name="textAreaTop" fmla="*/ 0 h 52200"/>
              <a:gd name="textAreaBottom" fmla="*/ 57240 h 5220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39" name="Google Shape;168;p15"/>
          <p:cNvSpPr/>
          <p:nvPr/>
        </p:nvSpPr>
        <p:spPr>
          <a:xfrm>
            <a:off x="2998800" y="725400"/>
            <a:ext cx="20520" cy="26640"/>
          </a:xfrm>
          <a:custGeom>
            <a:avLst/>
            <a:gdLst>
              <a:gd name="textAreaLeft" fmla="*/ 0 w 20520"/>
              <a:gd name="textAreaRight" fmla="*/ 25560 w 20520"/>
              <a:gd name="textAreaTop" fmla="*/ 0 h 26640"/>
              <a:gd name="textAreaBottom" fmla="*/ 31680 h 2664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sldNum" idx="22"/>
          </p:nvPr>
        </p:nvSpPr>
        <p:spPr>
          <a:xfrm>
            <a:off x="18627840" y="10253160"/>
            <a:ext cx="1200240" cy="85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2CD0C0-1147-4CC9-B8B9-7A28ACE0B69A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19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Google Shape;171;p15"/>
          <p:cNvSpPr/>
          <p:nvPr/>
        </p:nvSpPr>
        <p:spPr>
          <a:xfrm>
            <a:off x="905040" y="2229840"/>
            <a:ext cx="18522720" cy="90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1] C. Wu et al., "Ultra-Low-Power LoRa Mesh Networks for Wilderness Tracking," IEEE Transactions on Wireless Communications, vol. 24, no. 3, pp. 45-58, 2025.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[2] A. Khan and B. Li, "Adaptive GPS-LoRa Hybrid Positioning for Remote Areas," IEEE Internet of Things Journal, vol. 12, no. 1, pp. 112-125,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[3] E. Rodriguez et al., "Energy-Efficient Emergency Alert Systems Using ESP32," IEEE Sensors Journal, vol. 23, no. 8, pp. 210-223,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[4] G. Park and H. Kim, "Decentralized Tracking in Mountainous Terrain: A LoRa Case Study," IEEE Communications Letters, vol. 27, no. 5, pp. 78-91,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[5] I. Petrov and J. Silva, "Edge Computing for Real-Time Wilderness Safety Monitoring," IEEE Access, vol. 11, pp. 345-360,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[6] M. Tanaka and S. Chen, "Battery Optimization Techniques for IoT Tracking Devices," IEEE Transactions on Power Electronics, vol. 38, no. 4, pp. 201-215,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[7] R. Kumar and P. Sharma, "LoRa-Based Communication Challenges in Himalayan Regions," IEEE Wireless Communications Letters, vol. 10, no. 6, pp. 132-145,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[8] S. Desai and L. Prakash, "Comparative Analysis of Trekker Safety Systems," IEEE Consumer Electronics Magazine, vol. 11, no. 2, pp. 67-79,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[9] T. Nguyen and V. Patel, "Low-Power Sensor Fusion for Wilderness Tracking," IEEE Sensors Journal, vol. 21, no. 9, pp. 89-102,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[10] W. Zhang and X. Liu, "IoT Architectures for Remote Area Monitoring," IEEE Internet of Things Journal, vol. 8, no. 5, pp. 156-170,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Google Shape;172;p15"/>
          <p:cNvSpPr/>
          <p:nvPr/>
        </p:nvSpPr>
        <p:spPr>
          <a:xfrm>
            <a:off x="5057640" y="290520"/>
            <a:ext cx="90658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2019-11-25T06:56:12Z</dcterms:created>
  <dc:creator>Srobona Das</dc:creator>
  <dc:description/>
  <dc:language>en-US</dc:language>
  <cp:lastModifiedBy/>
  <dcterms:modified xsi:type="dcterms:W3CDTF">2025-06-19T10:17:08Z</dcterms:modified>
  <cp:revision>164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2019-11-25T00:00:00Z</vt:filetime>
  </property>
  <property fmtid="{D5CDD505-2E9C-101B-9397-08002B2CF9AE}" pid="3" name="Creator">
    <vt:lpwstr>Adobe Illustrator CC 23.1 (Macintosh)</vt:lpwstr>
  </property>
  <property fmtid="{D5CDD505-2E9C-101B-9397-08002B2CF9AE}" pid="4" name="LastSaved">
    <vt:filetime>2019-11-25T00:00:00Z</vt:filetime>
  </property>
  <property fmtid="{D5CDD505-2E9C-101B-9397-08002B2CF9AE}" pid="5" name="Notes">
    <vt:r8>14</vt:r8>
  </property>
  <property fmtid="{D5CDD505-2E9C-101B-9397-08002B2CF9AE}" pid="6" name="PresentationFormat">
    <vt:lpwstr>Custom</vt:lpwstr>
  </property>
  <property fmtid="{D5CDD505-2E9C-101B-9397-08002B2CF9AE}" pid="7" name="Slides">
    <vt:r8>15</vt:r8>
  </property>
</Properties>
</file>