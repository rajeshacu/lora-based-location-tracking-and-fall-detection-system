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20104100" cy="11309350"/>
  <p:notesSz cx="20104100" cy="113093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0C02409-CF1C-4F77-A6CB-E73643DA278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23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472F75-516A-47AA-812A-F8507642E149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24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7D4014-F8F2-4E3F-919A-C819778CA041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25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DD61AB-9A7B-431F-AA47-3C46918ED230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26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6DD086-4CE3-4341-BA22-8A96606F4C5A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27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6535FF-B4CB-4932-B2FD-3A4D6D35D75C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28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AC5F7B-0CA5-4C91-9F0B-72334E6A8F0C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29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54B716-5663-433C-8B3D-76A88BF6F6D7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30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A3EFD6-09F1-45A2-8AD6-54B0818EF629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1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5CBA85-8E60-414A-9C30-A1EB492C6BBF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2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56E80B-DBE7-40F6-90B9-1C284672ECAF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3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0EA817-05D3-4145-84A3-A96EABB2C265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38040" cy="423936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1920" cy="50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34"/>
          </p:nvPr>
        </p:nvSpPr>
        <p:spPr>
          <a:xfrm>
            <a:off x="11387160" y="10742760"/>
            <a:ext cx="8709840" cy="5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BE2ACF-E157-42CE-BEBD-8D9EFB09AA90}" type="slidenum">
              <a:rPr b="0" lang="en-IN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1036C2F-6932-4A53-A8AE-1F627AE355C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F3E2A8-C712-4110-AD75-E1855F2A3E9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EB5206-625A-44F6-8D5C-D6C759EF006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7B07CDA-1D52-43C8-B040-16F47DB899BF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921E679-79D2-4FCC-BE29-2C4D24BECED4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61120" y="2054160"/>
            <a:ext cx="18730080" cy="12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56560" y="4084560"/>
            <a:ext cx="18730080" cy="750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12F2A0-263A-48E6-B9DE-D06A4DEBF86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16" descr=""/>
          <p:cNvPicPr/>
          <p:nvPr/>
        </p:nvPicPr>
        <p:blipFill>
          <a:blip r:embed="rId3"/>
          <a:stretch/>
        </p:blipFill>
        <p:spPr>
          <a:xfrm>
            <a:off x="474840" y="474840"/>
            <a:ext cx="3311640" cy="1421640"/>
          </a:xfrm>
          <a:prstGeom prst="rect">
            <a:avLst/>
          </a:prstGeom>
          <a:ln w="0">
            <a:noFill/>
          </a:ln>
        </p:spPr>
      </p:pic>
      <p:pic>
        <p:nvPicPr>
          <p:cNvPr id="1" name="Google Shape;13;p16" descr=""/>
          <p:cNvPicPr/>
          <p:nvPr/>
        </p:nvPicPr>
        <p:blipFill>
          <a:blip r:embed="rId4"/>
          <a:stretch/>
        </p:blipFill>
        <p:spPr>
          <a:xfrm>
            <a:off x="7614360" y="10400400"/>
            <a:ext cx="4872240" cy="73836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6;p17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3" name="Google Shape;17;p17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134B50-2DA3-4EB4-90CA-1E7B58140537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1005120" y="451080"/>
            <a:ext cx="18093240" cy="18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1005120" y="2646360"/>
            <a:ext cx="18093240" cy="65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21;p18" descr=""/>
          <p:cNvPicPr/>
          <p:nvPr/>
        </p:nvPicPr>
        <p:blipFill>
          <a:blip r:embed="rId3"/>
          <a:stretch/>
        </p:blipFill>
        <p:spPr>
          <a:xfrm>
            <a:off x="474840" y="474840"/>
            <a:ext cx="3311640" cy="142164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25;p18" descr=""/>
          <p:cNvPicPr/>
          <p:nvPr/>
        </p:nvPicPr>
        <p:blipFill>
          <a:blip r:embed="rId4"/>
          <a:stretch/>
        </p:blipFill>
        <p:spPr>
          <a:xfrm>
            <a:off x="15354360" y="912600"/>
            <a:ext cx="4336560" cy="65700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C7BFFC-E586-44CA-AF75-47D4846E1F9D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21;p18" descr=""/>
          <p:cNvPicPr/>
          <p:nvPr/>
        </p:nvPicPr>
        <p:blipFill>
          <a:blip r:embed="rId3"/>
          <a:stretch/>
        </p:blipFill>
        <p:spPr>
          <a:xfrm>
            <a:off x="474840" y="474840"/>
            <a:ext cx="3311640" cy="1421640"/>
          </a:xfrm>
          <a:prstGeom prst="rect">
            <a:avLst/>
          </a:prstGeom>
          <a:ln w="0">
            <a:noFill/>
          </a:ln>
        </p:spPr>
      </p:pic>
      <p:pic>
        <p:nvPicPr>
          <p:cNvPr id="11" name="Google Shape;25;p18" descr=""/>
          <p:cNvPicPr/>
          <p:nvPr/>
        </p:nvPicPr>
        <p:blipFill>
          <a:blip r:embed="rId4"/>
          <a:stretch/>
        </p:blipFill>
        <p:spPr>
          <a:xfrm>
            <a:off x="15354360" y="912600"/>
            <a:ext cx="4336560" cy="65700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sldNum" idx="3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6FDFE4-2469-4465-B256-ECDEC2310485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1;p18" descr=""/>
          <p:cNvPicPr/>
          <p:nvPr/>
        </p:nvPicPr>
        <p:blipFill>
          <a:blip r:embed="rId3"/>
          <a:stretch/>
        </p:blipFill>
        <p:spPr>
          <a:xfrm>
            <a:off x="474840" y="474840"/>
            <a:ext cx="3311640" cy="1421640"/>
          </a:xfrm>
          <a:prstGeom prst="rect">
            <a:avLst/>
          </a:prstGeom>
          <a:ln w="0">
            <a:noFill/>
          </a:ln>
        </p:spPr>
      </p:pic>
      <p:pic>
        <p:nvPicPr>
          <p:cNvPr id="14" name="Google Shape;25;p18" descr=""/>
          <p:cNvPicPr/>
          <p:nvPr/>
        </p:nvPicPr>
        <p:blipFill>
          <a:blip r:embed="rId4"/>
          <a:stretch/>
        </p:blipFill>
        <p:spPr>
          <a:xfrm>
            <a:off x="15354360" y="912600"/>
            <a:ext cx="4336560" cy="65700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sldNum" idx="4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7C588A-D3A3-4C2E-B298-871F09DF012E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21;p18" descr=""/>
          <p:cNvPicPr/>
          <p:nvPr/>
        </p:nvPicPr>
        <p:blipFill>
          <a:blip r:embed="rId3"/>
          <a:stretch/>
        </p:blipFill>
        <p:spPr>
          <a:xfrm>
            <a:off x="474840" y="474840"/>
            <a:ext cx="3311640" cy="1421640"/>
          </a:xfrm>
          <a:prstGeom prst="rect">
            <a:avLst/>
          </a:prstGeom>
          <a:ln w="0">
            <a:noFill/>
          </a:ln>
        </p:spPr>
      </p:pic>
      <p:pic>
        <p:nvPicPr>
          <p:cNvPr id="17" name="Google Shape;25;p18" descr=""/>
          <p:cNvPicPr/>
          <p:nvPr/>
        </p:nvPicPr>
        <p:blipFill>
          <a:blip r:embed="rId4"/>
          <a:stretch/>
        </p:blipFill>
        <p:spPr>
          <a:xfrm>
            <a:off x="15354360" y="912600"/>
            <a:ext cx="4336560" cy="65700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sldNum" idx="5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E93A2C-8321-46B2-929E-09A15E51601A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21;p18" descr=""/>
          <p:cNvPicPr/>
          <p:nvPr/>
        </p:nvPicPr>
        <p:blipFill>
          <a:blip r:embed="rId3"/>
          <a:stretch/>
        </p:blipFill>
        <p:spPr>
          <a:xfrm>
            <a:off x="474840" y="474840"/>
            <a:ext cx="3311640" cy="1421640"/>
          </a:xfrm>
          <a:prstGeom prst="rect">
            <a:avLst/>
          </a:prstGeom>
          <a:ln w="0">
            <a:noFill/>
          </a:ln>
        </p:spPr>
      </p:pic>
      <p:pic>
        <p:nvPicPr>
          <p:cNvPr id="20" name="Google Shape;25;p18" descr=""/>
          <p:cNvPicPr/>
          <p:nvPr/>
        </p:nvPicPr>
        <p:blipFill>
          <a:blip r:embed="rId4"/>
          <a:stretch/>
        </p:blipFill>
        <p:spPr>
          <a:xfrm>
            <a:off x="15354360" y="912600"/>
            <a:ext cx="4336560" cy="657000"/>
          </a:xfrm>
          <a:prstGeom prst="rect">
            <a:avLst/>
          </a:prstGeom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61120" y="2054160"/>
            <a:ext cx="18730080" cy="12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56560" y="4084560"/>
            <a:ext cx="18730080" cy="750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6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166AF6-3422-46C2-B502-A767E5988D52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5;p1"/>
          <p:cNvSpPr/>
          <p:nvPr/>
        </p:nvSpPr>
        <p:spPr>
          <a:xfrm>
            <a:off x="4443840" y="2008080"/>
            <a:ext cx="11214360" cy="13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6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Enhanced LongRange Location Tracking and Fall Detection System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36;p1"/>
          <p:cNvSpPr/>
          <p:nvPr/>
        </p:nvSpPr>
        <p:spPr>
          <a:xfrm>
            <a:off x="1575360" y="3254400"/>
            <a:ext cx="17014680" cy="69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1RV23MC039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RAJESHA C U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Under the Guidance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DR. Deepika K              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External Guide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Associate Professor                                     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Designation 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Department of MCA                                 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Affiliation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sldNum" idx="10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37B4A7-F6E4-4967-A442-7E82B371C4A3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1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Google Shape;38;p1"/>
          <p:cNvSpPr/>
          <p:nvPr/>
        </p:nvSpPr>
        <p:spPr>
          <a:xfrm>
            <a:off x="4599360" y="351000"/>
            <a:ext cx="10902960" cy="13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6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Major Project – MCA491P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44;p2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37" name="Google Shape;45;p2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sldNum" idx="11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A84339-418D-43F5-996C-77D23ED1CF8D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2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Google Shape;47;p2"/>
          <p:cNvSpPr/>
          <p:nvPr/>
        </p:nvSpPr>
        <p:spPr>
          <a:xfrm>
            <a:off x="1008000" y="2411280"/>
            <a:ext cx="18525240" cy="77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Changes suggested in Phase I and Incorporation 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Tools and Technologies Used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Hardware and Software Requirements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Functional Requirements- Module specification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Non-functional Requirements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Design Constraints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System design- Architecture design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Detailed Design- Class Diagram, Use Case diagram, sequence diagram, activity diagram and DFD (level-0 to level-2)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Work progress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48;p2"/>
          <p:cNvSpPr/>
          <p:nvPr/>
        </p:nvSpPr>
        <p:spPr>
          <a:xfrm>
            <a:off x="5040000" y="971640"/>
            <a:ext cx="90687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Agenda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54;p4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2" name="Google Shape;55;p4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sldNum" idx="12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A98609-5ADF-448C-8FCE-0B24C6B4F835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Google Shape;57;p4"/>
          <p:cNvSpPr/>
          <p:nvPr/>
        </p:nvSpPr>
        <p:spPr>
          <a:xfrm>
            <a:off x="995400" y="2149560"/>
            <a:ext cx="18525240" cy="61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Redifined the Objectives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58;p4"/>
          <p:cNvSpPr/>
          <p:nvPr/>
        </p:nvSpPr>
        <p:spPr>
          <a:xfrm>
            <a:off x="5057640" y="290520"/>
            <a:ext cx="90684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Incorporation of Changes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64;p5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7" name="Google Shape;65;p5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4733EB-6735-47F1-9858-F39D7D14F9C3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Google Shape;68;p5"/>
          <p:cNvSpPr/>
          <p:nvPr/>
        </p:nvSpPr>
        <p:spPr>
          <a:xfrm>
            <a:off x="5057640" y="290520"/>
            <a:ext cx="90684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Project based Learning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" name="Google Shape;69;p5"/>
          <p:cNvGraphicFramePr/>
          <p:nvPr/>
        </p:nvGraphicFramePr>
        <p:xfrm>
          <a:off x="1822320" y="3885840"/>
          <a:ext cx="16458480" cy="2219040"/>
        </p:xfrm>
        <a:graphic>
          <a:graphicData uri="http://schemas.openxmlformats.org/drawingml/2006/table">
            <a:tbl>
              <a:tblPr/>
              <a:tblGrid>
                <a:gridCol w="1371600"/>
                <a:gridCol w="7619760"/>
                <a:gridCol w="7467480"/>
              </a:tblGrid>
              <a:tr h="8172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Sl No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  </a:t>
                      </a: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Particulars  / Details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Details of Implementation 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Course on “ReactJS” 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It helps us to design the frontend of the web interface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Course on “NodeJS”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It helps to build the backend of the web application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85;p7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2" name="Google Shape;86;p7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sldNum" idx="14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66C83C-2D2D-45F0-990B-4426A067F085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Google Shape;89;p7"/>
          <p:cNvSpPr/>
          <p:nvPr/>
        </p:nvSpPr>
        <p:spPr>
          <a:xfrm>
            <a:off x="5057640" y="290520"/>
            <a:ext cx="90684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Design Methodology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5" name="Google Shape;69;p 1"/>
          <p:cNvGraphicFramePr/>
          <p:nvPr/>
        </p:nvGraphicFramePr>
        <p:xfrm>
          <a:off x="986040" y="2026440"/>
          <a:ext cx="16458480" cy="2826000"/>
        </p:xfrm>
        <a:graphic>
          <a:graphicData uri="http://schemas.openxmlformats.org/drawingml/2006/table">
            <a:tbl>
              <a:tblPr/>
              <a:tblGrid>
                <a:gridCol w="1371600"/>
                <a:gridCol w="5378400"/>
                <a:gridCol w="970884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Sl No 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Components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Purpose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ESP32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Collects data from sensors; sends via MQTT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LoRa Module 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Long-range wireless communication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BME280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Measures temp/humidity/pressure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GPS Module 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Tracks location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Google Shape;69;p 2"/>
          <p:cNvGraphicFramePr/>
          <p:nvPr/>
        </p:nvGraphicFramePr>
        <p:xfrm>
          <a:off x="1251720" y="6036480"/>
          <a:ext cx="16458480" cy="3372480"/>
        </p:xfrm>
        <a:graphic>
          <a:graphicData uri="http://schemas.openxmlformats.org/drawingml/2006/table">
            <a:tbl>
              <a:tblPr/>
              <a:tblGrid>
                <a:gridCol w="1365120"/>
                <a:gridCol w="5384880"/>
                <a:gridCol w="970884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Sl No 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Components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Purpose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Next.js (Frontend)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Web dashboard for farmers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MQTT Broker (Mosquitto)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Lightweight messaging protocol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PostgreSQL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Database to store sensor readings &amp; logic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Node.js + Express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API backend for sensor data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MicroPython / Arduino IDE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Programming ESP32 sensor logic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75;p6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8" name="Google Shape;76;p6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sldNum" idx="15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5AD9BF-B46B-47C9-B64C-94C7283D5C82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Google Shape;78;p6"/>
          <p:cNvSpPr/>
          <p:nvPr/>
        </p:nvSpPr>
        <p:spPr>
          <a:xfrm>
            <a:off x="995400" y="2378160"/>
            <a:ext cx="18525240" cy="69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Arial"/>
              </a:rPr>
              <a:t>ESP32 + LoRa enables low-power, long-range wireless communication for field-deployed sensor nodes.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Arial"/>
              </a:rPr>
              <a:t>MQTT ensures efficient, real-time data transfer between devices and the backend with minimal bandwidth.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Arial"/>
              </a:rPr>
              <a:t>PostgreSQL provides reliable storage, advanced geospatial queries, and robust data integrity for sensor logs.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Arial"/>
              </a:rPr>
              <a:t>Next.js delivers a fast, modern web dashboard with server-side rendering and seamless user experience.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Arial"/>
              </a:rPr>
              <a:t>Python allows flexible backend scripting for data processing, alert logic, and easy future enhancements.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Arial"/>
              </a:rPr>
              <a:t>Leaflet.js integrates interactive maps for live location tracking and visualization of all field nodes.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Arial"/>
              </a:rPr>
              <a:t>Arduino IDE simplifies firmware development and rapid prototyping for ESP32-based sensor nodes.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79;p6"/>
          <p:cNvSpPr/>
          <p:nvPr/>
        </p:nvSpPr>
        <p:spPr>
          <a:xfrm>
            <a:off x="5057640" y="290520"/>
            <a:ext cx="90684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Design Methodology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78;p 1"/>
          <p:cNvSpPr/>
          <p:nvPr/>
        </p:nvSpPr>
        <p:spPr>
          <a:xfrm>
            <a:off x="1025280" y="6143400"/>
            <a:ext cx="18525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Arial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95;p9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64" name="Google Shape;96;p9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sldNum" idx="16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6F7A13-70F5-42CA-B910-B9E224DE7171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Google Shape;98;p9"/>
          <p:cNvSpPr/>
          <p:nvPr/>
        </p:nvSpPr>
        <p:spPr>
          <a:xfrm>
            <a:off x="1008000" y="2073240"/>
            <a:ext cx="18525240" cy="88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Module Name:  Location Tracking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Purpose: To update and display user/node GPS location.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Input: GPS coordinates from FieldNode device.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Function: Receives, stores, and maps location data.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Output: User location with timestamp shown on dashboard.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Module Name: Environmental Monitoring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Purpose: To monitor temperature and pressure at each node.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Input: Data from BME280 sensor.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Function: Reads, transmits, and logs environmental data.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Output: Temperature and pressure values with timestamp.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Module Name: Energy Monitoring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Purpose: To track and report device battery status.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Input: Battery voltage/current from FieldNode.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Function: Reads, evaluates, and reports battery level.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Output: Battery percentage and status alert if low.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Module Name: Emergency Alert System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Purpose: To notify admin and users of emergencies.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Input: Emergency trigger from user/device.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Function: Broadcasts alert, logs event, notifies relevant users.</a:t>
            </a:r>
            <a:br>
              <a:rPr sz="2400"/>
            </a:b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Output: Emergency alert message with user/location info.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99;p9"/>
          <p:cNvSpPr/>
          <p:nvPr/>
        </p:nvSpPr>
        <p:spPr>
          <a:xfrm>
            <a:off x="5057640" y="290520"/>
            <a:ext cx="952704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Functional Requirements Specification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05;p10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69" name="Google Shape;106;p10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sldNum" idx="17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252E42-59ED-4440-BEF9-3FB6D240A9BD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Google Shape;109;p10"/>
          <p:cNvSpPr/>
          <p:nvPr/>
        </p:nvSpPr>
        <p:spPr>
          <a:xfrm>
            <a:off x="5057640" y="290520"/>
            <a:ext cx="106383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Non-Functional Requirements Specification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2" name="Google Shape;69;p 3"/>
          <p:cNvGraphicFramePr/>
          <p:nvPr/>
        </p:nvGraphicFramePr>
        <p:xfrm>
          <a:off x="1194840" y="2414160"/>
          <a:ext cx="17214840" cy="2718000"/>
        </p:xfrm>
        <a:graphic>
          <a:graphicData uri="http://schemas.openxmlformats.org/drawingml/2006/table">
            <a:tbl>
              <a:tblPr/>
              <a:tblGrid>
                <a:gridCol w="1417680"/>
                <a:gridCol w="5592960"/>
                <a:gridCol w="1020456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Sl No 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Components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Purpose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System Availability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The system shall be available 95% of the time during operational hours (6 AM – 6 PM).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Sensor Data Latency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Data from ESP32 sensors shall reach the backend within ≤ 3 seconds of collection.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546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Security (Access Control)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Only authenticated users can access the dashboard and track location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523640" y="656280"/>
            <a:ext cx="5055480" cy="12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Arial"/>
              </a:rPr>
              <a:t>Design Constrains</a:t>
            </a:r>
            <a:br>
              <a:rPr sz="4400"/>
            </a:b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4" name="Google Shape;69;p 4"/>
          <p:cNvGraphicFramePr/>
          <p:nvPr/>
        </p:nvGraphicFramePr>
        <p:xfrm>
          <a:off x="1577520" y="2368440"/>
          <a:ext cx="17352720" cy="6698520"/>
        </p:xfrm>
        <a:graphic>
          <a:graphicData uri="http://schemas.openxmlformats.org/drawingml/2006/table">
            <a:tbl>
              <a:tblPr/>
              <a:tblGrid>
                <a:gridCol w="1439280"/>
                <a:gridCol w="3513960"/>
                <a:gridCol w="12399840"/>
              </a:tblGrid>
              <a:tr h="9565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Sl No 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Constraint Type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400" spc="-1" strike="noStrik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</a:rPr>
                        <a:t>Description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956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Technical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IN" sz="2400" spc="-1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</a:rPr>
                        <a:t>LoRa communication range is limited by environmental obstacles and legal frequency restrictions; GPS accuracy may be affected by terrain and weather.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956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Time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Project must be completed within the academic semester duration (4 months).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Integration and testing across hardware and software must fit into limited lab sessions.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956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Budget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Only low-cost, readily available components (ESP32, LoRa, BME280, GPS) are used; advanced modules or commercial IoT platforms are excluded.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956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Resources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Development and testing are limited to a small student team and a 5-node prototype; large-scale deployment and professional support are not included.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957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Deployment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System is designed for local or LAN-based deployment; cloud hosting and remote access are not implemented in the initial version.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957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Environmental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Devices are tested in controlled or semi-controlled environments; harsh outdoor conditions (extreme weather) are not fully addressed in the prototype.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15;p11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76" name="Google Shape;116;p11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18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01F7B6-7E53-4B46-97C8-89660D51EEB6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Google Shape;119;p11"/>
          <p:cNvSpPr/>
          <p:nvPr/>
        </p:nvSpPr>
        <p:spPr>
          <a:xfrm>
            <a:off x="5057640" y="290520"/>
            <a:ext cx="90684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System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19;p 1"/>
          <p:cNvSpPr/>
          <p:nvPr/>
        </p:nvSpPr>
        <p:spPr>
          <a:xfrm>
            <a:off x="8458200" y="10335240"/>
            <a:ext cx="27846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Block Diagram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069440" y="1798560"/>
            <a:ext cx="11703600" cy="780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26;p12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82" name="Google Shape;127;p12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sldNum" idx="19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30A8AC-F7AF-40C8-96FF-7E10EB1EF264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Google Shape;130;p12"/>
          <p:cNvSpPr/>
          <p:nvPr/>
        </p:nvSpPr>
        <p:spPr>
          <a:xfrm>
            <a:off x="5057640" y="290520"/>
            <a:ext cx="90684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System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rcRect l="16009" t="0" r="15628" b="5"/>
          <a:stretch/>
        </p:blipFill>
        <p:spPr>
          <a:xfrm>
            <a:off x="5715000" y="1828800"/>
            <a:ext cx="8000280" cy="7801560"/>
          </a:xfrm>
          <a:prstGeom prst="rect">
            <a:avLst/>
          </a:prstGeom>
          <a:ln w="0">
            <a:noFill/>
          </a:ln>
        </p:spPr>
      </p:pic>
      <p:sp>
        <p:nvSpPr>
          <p:cNvPr id="86" name=""/>
          <p:cNvSpPr/>
          <p:nvPr/>
        </p:nvSpPr>
        <p:spPr>
          <a:xfrm>
            <a:off x="7086600" y="10094400"/>
            <a:ext cx="5028840" cy="12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Architectural diagram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4800600" y="2057400"/>
            <a:ext cx="10058040" cy="765828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/>
          <p:nvPr/>
        </p:nvSpPr>
        <p:spPr>
          <a:xfrm>
            <a:off x="8015400" y="10287000"/>
            <a:ext cx="3871440" cy="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Use Case diagram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7543800" y="685800"/>
            <a:ext cx="392328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Detailed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2632680" y="1324080"/>
            <a:ext cx="13597560" cy="873396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7772400" y="10287000"/>
            <a:ext cx="3828960" cy="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sequence diagram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7791480" y="9829800"/>
            <a:ext cx="3180960" cy="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Class Diagram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4069440" y="2027160"/>
            <a:ext cx="11703600" cy="780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8160840" y="10272240"/>
            <a:ext cx="349020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activity diagram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5029200" y="1143000"/>
            <a:ext cx="10058040" cy="873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47;g3616559daea_0_0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97" name="Google Shape;148;g3616559daea_0_0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sldNum" idx="20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0D3A2B-D8A7-4DE8-B140-3190D5B3861F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Google Shape;151;g3616559daea_0_0"/>
          <p:cNvSpPr/>
          <p:nvPr/>
        </p:nvSpPr>
        <p:spPr>
          <a:xfrm>
            <a:off x="5057640" y="290520"/>
            <a:ext cx="90687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Detailed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7511400" y="8595720"/>
            <a:ext cx="323712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DFD – Level 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3711600" y="3186000"/>
            <a:ext cx="11912760" cy="4641120"/>
          </a:xfrm>
          <a:prstGeom prst="rect">
            <a:avLst/>
          </a:prstGeom>
          <a:ln w="0">
            <a:noFill/>
          </a:ln>
        </p:spPr>
      </p:pic>
      <p:sp>
        <p:nvSpPr>
          <p:cNvPr id="102" name=""/>
          <p:cNvSpPr/>
          <p:nvPr/>
        </p:nvSpPr>
        <p:spPr>
          <a:xfrm>
            <a:off x="15278760" y="8458200"/>
            <a:ext cx="4380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DS1- Recieving sensor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DS2-Sending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4401360" y="2286000"/>
            <a:ext cx="10699560" cy="7532280"/>
          </a:xfrm>
          <a:prstGeom prst="rect">
            <a:avLst/>
          </a:prstGeom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8121240" y="10092240"/>
            <a:ext cx="323712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DFD – Level 1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6002000" y="9601200"/>
            <a:ext cx="35744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DS1- Recieving sensor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DS2-Sending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082680" y="1932480"/>
            <a:ext cx="13376160" cy="799884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9340200" y="10396800"/>
            <a:ext cx="3237120" cy="6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4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DFD – Level 2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5856200" y="9931680"/>
            <a:ext cx="35744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DS1- Recieving sensor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DS2-Sending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57;p14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110" name="Google Shape;158;p14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sldNum" idx="21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9D5365-1904-4347-90CC-399C67B514A9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Google Shape;161;p14"/>
          <p:cNvSpPr/>
          <p:nvPr/>
        </p:nvSpPr>
        <p:spPr>
          <a:xfrm>
            <a:off x="5057640" y="290520"/>
            <a:ext cx="90684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Work Progress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54400" y="2341440"/>
            <a:ext cx="18661320" cy="789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1" lang="en-US" sz="2600" spc="-1" strike="noStrike">
                <a:solidFill>
                  <a:srgbClr val="000000"/>
                </a:solidFill>
                <a:latin typeface="times new roman"/>
              </a:rPr>
              <a:t>Work completed so far: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Design and selection of all hardware components (ESP32, LoRa, GPS, BMP180, Li-ion battery)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</a:rPr>
              <a:t>Initial web dashboard (Next.js) for user authentication, location display, and alert visualization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1" lang="en-US" sz="2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Plan for Further Work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Complete physical assembly and wiring of ESP32+LoRa+GPS+BME280 hardware nodes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Integrate battery monitoring and test power management features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Finalize and test real-time data transmission from hardware to backend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Enhance dashboard with  data visualization and advanced filtering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600" spc="-1" strike="noStrike">
                <a:solidFill>
                  <a:srgbClr val="000000"/>
                </a:solidFill>
                <a:latin typeface="times new roman"/>
                <a:ea typeface="Noto Sans CJK SC"/>
              </a:rPr>
              <a:t>Conduct field deployment and calibration of all sensors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67;p15"/>
          <p:cNvSpPr/>
          <p:nvPr/>
        </p:nvSpPr>
        <p:spPr>
          <a:xfrm>
            <a:off x="2982960" y="712800"/>
            <a:ext cx="54720" cy="54720"/>
          </a:xfrm>
          <a:custGeom>
            <a:avLst/>
            <a:gdLst>
              <a:gd name="textAreaLeft" fmla="*/ 0 w 54720"/>
              <a:gd name="textAreaRight" fmla="*/ 57240 w 54720"/>
              <a:gd name="textAreaTop" fmla="*/ 0 h 54720"/>
              <a:gd name="textAreaBottom" fmla="*/ 57240 h 5472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115" name="Google Shape;168;p15"/>
          <p:cNvSpPr/>
          <p:nvPr/>
        </p:nvSpPr>
        <p:spPr>
          <a:xfrm>
            <a:off x="2998800" y="725400"/>
            <a:ext cx="23040" cy="29160"/>
          </a:xfrm>
          <a:custGeom>
            <a:avLst/>
            <a:gdLst>
              <a:gd name="textAreaLeft" fmla="*/ 0 w 23040"/>
              <a:gd name="textAreaRight" fmla="*/ 25560 w 23040"/>
              <a:gd name="textAreaTop" fmla="*/ 0 h 29160"/>
              <a:gd name="textAreaBottom" fmla="*/ 31680 h 2916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sldNum" idx="22"/>
          </p:nvPr>
        </p:nvSpPr>
        <p:spPr>
          <a:xfrm>
            <a:off x="18627840" y="10253160"/>
            <a:ext cx="120276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927457-6610-402F-8845-34209ABA1ABE}" type="slidenum">
              <a:rPr b="0" lang="en-IN" sz="22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2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Google Shape;171;p15"/>
          <p:cNvSpPr/>
          <p:nvPr/>
        </p:nvSpPr>
        <p:spPr>
          <a:xfrm>
            <a:off x="905040" y="2229840"/>
            <a:ext cx="18525240" cy="90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1] C. Wu et al., "Ultra-Low-Power LoRa Mesh Networks for Wilderness Tracking," IEEE Transactions on Wireless Communications, vol. 24, no. 3, pp. 45-58, 2025.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[2] A. Khan and B. Li, "Adaptive GPS-LoRa Hybrid Positioning for Remote Areas," IEEE Internet of Things Journal, vol. 12, no. 1, pp. 112-125, 2024.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[3] E. Rodriguez et al., "Energy-Efficient Emergency Alert Systems Using ESP32," IEEE Sensors Journal, vol. 23, no. 8, pp. 210-223, 2024.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[4] G. Park and H. Kim, "Decentralized Tracking in Mountainous Terrain: A LoRa Case Study," IEEE Communications Letters, vol. 27, no. 5, pp. 78-91, 2023.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[5] I. Petrov and J. Silva, "Edge Computing for Real-Time Wilderness Safety Monitoring," IEEE Access, vol. 11, pp. 345-360, 2023.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[6] M. Tanaka and S. Chen, "Battery Optimization Techniques for IoT Tracking Devices," IEEE Transactions on Power Electronics, vol. 38, no. 4, pp. 201-215, 2022.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[7] R. Kumar and P. Sharma, "LoRa-Based Communication Challenges in Himalayan Regions," IEEE Wireless Communications Letters, vol. 10, no. 6, pp. 132-145, 2022.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[8] S. Desai and L. Prakash, "Comparative Analysis of Trekker Safety Systems," IEEE Consumer Electronics Magazine, vol. 11, no. 2, pp. 67-79, 2022.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[9] T. Nguyen and V. Patel, "Low-Power Sensor Fusion for Wilderness Tracking," IEEE Sensors Journal, vol. 21, no. 9, pp. 89-102, 2021.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[10] W. Zhang and X. Liu, "IoT Architectures for Remote Area Monitoring," IEEE Internet of Things Journal, vol. 8, no. 5, pp. 156-170, 2021.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172;p15"/>
          <p:cNvSpPr/>
          <p:nvPr/>
        </p:nvSpPr>
        <p:spPr>
          <a:xfrm>
            <a:off x="5057640" y="290520"/>
            <a:ext cx="90684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References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1382</TotalTime>
  <Application>LibreOffice/24.2.7.2$Linux_X86_64 LibreOffice_project/420$Build-2</Application>
  <AppVersion>15.0000</AppVersion>
  <Words>420</Words>
  <Paragraphs>185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2019-11-25T06:56:12Z</dcterms:created>
  <dc:creator>Srobona Das</dc:creator>
  <dc:description/>
  <dc:language>en-US</dc:language>
  <cp:lastModifiedBy/>
  <dcterms:modified xsi:type="dcterms:W3CDTF">2025-06-17T00:34:01Z</dcterms:modified>
  <cp:revision>97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2019-11-25T00:00:00Z</vt:filetime>
  </property>
  <property fmtid="{D5CDD505-2E9C-101B-9397-08002B2CF9AE}" pid="3" name="Creator">
    <vt:lpwstr>Adobe Illustrator CC 23.1 (Macintosh)</vt:lpwstr>
  </property>
  <property fmtid="{D5CDD505-2E9C-101B-9397-08002B2CF9AE}" pid="4" name="LastSaved">
    <vt:filetime>2019-11-25T00:00:00Z</vt:filetime>
  </property>
  <property fmtid="{D5CDD505-2E9C-101B-9397-08002B2CF9AE}" pid="5" name="Notes">
    <vt:i4>14</vt:i4>
  </property>
  <property fmtid="{D5CDD505-2E9C-101B-9397-08002B2CF9AE}" pid="6" name="PresentationFormat">
    <vt:lpwstr>Custom</vt:lpwstr>
  </property>
  <property fmtid="{D5CDD505-2E9C-101B-9397-08002B2CF9AE}" pid="7" name="Slides">
    <vt:i4>15</vt:i4>
  </property>
</Properties>
</file>